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12_AD684B97.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9_6EA1E248.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B_A33C735D.xml" ContentType="application/vnd.ms-powerpoint.comments+xml"/>
  <Override PartName="/ppt/notesSlides/notesSlide17.xml" ContentType="application/vnd.openxmlformats-officedocument.presentationml.notesSlide+xml"/>
  <Override PartName="/ppt/comments/modernComment_10C_87CD58EF.xml" ContentType="application/vnd.ms-powerpoint.comments+xml"/>
  <Override PartName="/ppt/notesSlides/notesSlide18.xml" ContentType="application/vnd.openxmlformats-officedocument.presentationml.notesSlide+xml"/>
  <Override PartName="/ppt/comments/modernComment_10D_4448ED0D.xml" ContentType="application/vnd.ms-powerpoint.comments+xml"/>
  <Override PartName="/ppt/notesSlides/notesSlide19.xml" ContentType="application/vnd.openxmlformats-officedocument.presentationml.notesSlide+xml"/>
  <Override PartName="/ppt/comments/modernComment_11C_70275786.xml" ContentType="application/vnd.ms-powerpoint.comments+xml"/>
  <Override PartName="/ppt/notesSlides/notesSlide20.xml" ContentType="application/vnd.openxmlformats-officedocument.presentationml.notesSlide+xml"/>
  <Override PartName="/ppt/comments/modernComment_10E_A19BEFEB.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19_E4757033.xml" ContentType="application/vnd.ms-powerpoint.comments+xml"/>
  <Override PartName="/ppt/notesSlides/notesSlide2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74" r:id="rId3"/>
    <p:sldId id="257" r:id="rId4"/>
    <p:sldId id="279" r:id="rId5"/>
    <p:sldId id="263" r:id="rId6"/>
    <p:sldId id="264" r:id="rId7"/>
    <p:sldId id="258" r:id="rId8"/>
    <p:sldId id="259" r:id="rId9"/>
    <p:sldId id="260" r:id="rId10"/>
    <p:sldId id="273" r:id="rId11"/>
    <p:sldId id="261" r:id="rId12"/>
    <p:sldId id="262" r:id="rId13"/>
    <p:sldId id="265" r:id="rId14"/>
    <p:sldId id="275" r:id="rId15"/>
    <p:sldId id="276" r:id="rId16"/>
    <p:sldId id="277" r:id="rId17"/>
    <p:sldId id="266" r:id="rId18"/>
    <p:sldId id="267" r:id="rId19"/>
    <p:sldId id="272" r:id="rId20"/>
    <p:sldId id="268" r:id="rId21"/>
    <p:sldId id="269" r:id="rId22"/>
    <p:sldId id="284" r:id="rId23"/>
    <p:sldId id="270" r:id="rId24"/>
    <p:sldId id="280" r:id="rId25"/>
    <p:sldId id="281" r:id="rId26"/>
    <p:sldId id="27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B3F847-87D2-01A9-E995-E89CC23214FE}" name="Cox, Quinten" initials="CQ" userId="S::qcox@mtech.edu::b67d71e0-64de-44e4-b1e7-cc5ec094cdc7" providerId="AD"/>
  <p188:author id="{863554B7-9464-4D9D-5F57-0ACEA4410EC8}" name="Pride, Hayden" initials="HP" userId="S::hpride@mtech.edu::8c729242-b274-4183-b25f-01bfa766d2cb" providerId="AD"/>
  <p188:author id="{44C4BCD3-837D-6EBD-263A-9DB8C797369F}" name="Steilman, Nicholas" initials="SN" userId="S::nsteilman1@mtech.edu::f6ba8358-5024-4031-a36b-6ed4a12cc7f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2AFDE1-63AE-4BA1-9907-D21865330DF3}" v="87" dt="2025-12-05T02:12:49.500"/>
    <p1510:client id="{AAC497C8-04BE-2D05-5DA9-7A0AFE752DB4}" v="44" dt="2025-12-05T00:08:07.994"/>
    <p1510:client id="{EB7D113C-EF9C-7D3C-143E-8B7C94CA1973}" v="69" dt="2025-12-05T06:50:24.1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243" autoAdjust="0"/>
  </p:normalViewPr>
  <p:slideViewPr>
    <p:cSldViewPr snapToGrid="0">
      <p:cViewPr varScale="1">
        <p:scale>
          <a:sx n="60" d="100"/>
          <a:sy n="60" d="100"/>
        </p:scale>
        <p:origin x="78"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comments/modernComment_10B_A33C735D.xml><?xml version="1.0" encoding="utf-8"?>
<p188:cmLst xmlns:a="http://schemas.openxmlformats.org/drawingml/2006/main" xmlns:r="http://schemas.openxmlformats.org/officeDocument/2006/relationships" xmlns:p188="http://schemas.microsoft.com/office/powerpoint/2018/8/main">
  <p188:cm id="{6D4F6475-693B-415B-9667-E002F00AFC5F}" authorId="{1FB3F847-87D2-01A9-E995-E89CC23214FE}" created="2025-11-25T02:36:33.886">
    <ac:deMkLst xmlns:ac="http://schemas.microsoft.com/office/drawing/2013/main/command">
      <pc:docMk xmlns:pc="http://schemas.microsoft.com/office/powerpoint/2013/main/command"/>
      <pc:sldMk xmlns:pc="http://schemas.microsoft.com/office/powerpoint/2013/main/command" cId="2738647901" sldId="267"/>
      <ac:spMk id="2" creationId="{4282AB3D-176A-D247-DBA6-3822E42B98D8}"/>
    </ac:deMkLst>
    <p188:replyLst>
      <p188:reply id="{2C458E0F-2725-4A6B-A8D7-B8A6A87FDCC3}" authorId="{44C4BCD3-837D-6EBD-263A-9DB8C797369F}" created="2025-11-25T15:36:38.699">
        <p188:txBody>
          <a:bodyPr/>
          <a:lstStyle/>
          <a:p>
            <a:r>
              <a:rPr lang="en-US"/>
              <a:t>I added it, it would probably be best to include it</a:t>
            </a:r>
          </a:p>
        </p188:txBody>
      </p188:reply>
    </p188:replyLst>
    <p188:txBody>
      <a:bodyPr/>
      <a:lstStyle/>
      <a:p>
        <a:r>
          <a:rPr lang="en-US"/>
          <a:t>Do we want to add the standard for the data we will be displaying? I think it was NTCIP 1204 </a:t>
        </a:r>
      </a:p>
    </p188:txBody>
  </p188:cm>
</p188:cmLst>
</file>

<file path=ppt/comments/modernComment_10C_87CD58EF.xml><?xml version="1.0" encoding="utf-8"?>
<p188:cmLst xmlns:a="http://schemas.openxmlformats.org/drawingml/2006/main" xmlns:r="http://schemas.openxmlformats.org/officeDocument/2006/relationships" xmlns:p188="http://schemas.microsoft.com/office/powerpoint/2018/8/main">
  <p188:cm id="{5B279156-FE06-4F28-A04D-5C342E8E07D3}" authorId="{1FB3F847-87D2-01A9-E995-E89CC23214FE}" created="2025-11-25T02:46:46.461">
    <ac:txMkLst xmlns:ac="http://schemas.microsoft.com/office/drawing/2013/main/command">
      <pc:docMk xmlns:pc="http://schemas.microsoft.com/office/powerpoint/2013/main/command"/>
      <pc:sldMk xmlns:pc="http://schemas.microsoft.com/office/powerpoint/2013/main/command" cId="2278381807" sldId="268"/>
      <ac:spMk id="3" creationId="{1F4AC47A-1CD0-4D9A-14E6-C6CAEF50FBF1}"/>
      <ac:txMk cp="126" len="29">
        <ac:context len="317" hash="2660137093"/>
      </ac:txMk>
    </ac:txMkLst>
    <p188:pos x="2563905" y="968188"/>
    <p188:replyLst>
      <p188:reply id="{797D7796-9E55-4AC8-834B-7FD08EF23EF3}" authorId="{44C4BCD3-837D-6EBD-263A-9DB8C797369F}" created="2025-11-25T15:38:15.042">
        <p188:txBody>
          <a:bodyPr/>
          <a:lstStyle/>
          <a:p>
            <a:r>
              <a:rPr lang="en-US"/>
              <a:t>Im not sure either but locally hosted might be the best way. We could ask doug about it.</a:t>
            </a:r>
          </a:p>
        </p188:txBody>
      </p188:reply>
    </p188:replyLst>
    <p188:txBody>
      <a:bodyPr/>
      <a:lstStyle/>
      <a:p>
        <a:r>
          <a:rPr lang="en-US"/>
          <a:t>Not sure if this is technically correct for our scope since we will use it mostly locally and we will not be deploying it. Not sure how else to write it. </a:t>
        </a:r>
      </a:p>
    </p188:txBody>
  </p188:cm>
</p188:cmLst>
</file>

<file path=ppt/comments/modernComment_10D_4448ED0D.xml><?xml version="1.0" encoding="utf-8"?>
<p188:cmLst xmlns:a="http://schemas.openxmlformats.org/drawingml/2006/main" xmlns:r="http://schemas.openxmlformats.org/officeDocument/2006/relationships" xmlns:p188="http://schemas.microsoft.com/office/powerpoint/2018/8/main">
  <p188:cm id="{A6EFA1A7-D540-4EE9-8A10-58C243983CE9}" authorId="{1FB3F847-87D2-01A9-E995-E89CC23214FE}" created="2025-11-30T01:11:35.205">
    <pc:sldMkLst xmlns:pc="http://schemas.microsoft.com/office/powerpoint/2013/main/command">
      <pc:docMk/>
      <pc:sldMk cId="1145629965" sldId="269"/>
    </pc:sldMkLst>
    <p188:txBody>
      <a:bodyPr/>
      <a:lstStyle/>
      <a:p>
        <a:r>
          <a:rPr lang="en-US"/>
          <a:t>Maybe we add a user flow diagram?</a:t>
        </a:r>
      </a:p>
    </p188:txBody>
  </p188:cm>
</p188:cmLst>
</file>

<file path=ppt/comments/modernComment_10E_A19BEFEB.xml><?xml version="1.0" encoding="utf-8"?>
<p188:cmLst xmlns:a="http://schemas.openxmlformats.org/drawingml/2006/main" xmlns:r="http://schemas.openxmlformats.org/officeDocument/2006/relationships" xmlns:p188="http://schemas.microsoft.com/office/powerpoint/2018/8/main">
  <p188:cm id="{BD37F1E9-7C74-40EF-9577-104F9BE211C7}" authorId="{1FB3F847-87D2-01A9-E995-E89CC23214FE}" created="2025-11-25T02:54:01.064">
    <ac:deMkLst xmlns:ac="http://schemas.microsoft.com/office/drawing/2013/main/command">
      <pc:docMk xmlns:pc="http://schemas.microsoft.com/office/powerpoint/2013/main/command"/>
      <pc:sldMk xmlns:pc="http://schemas.microsoft.com/office/powerpoint/2013/main/command" cId="2711351275" sldId="270"/>
      <ac:picMk id="5" creationId="{E58B3B97-3D85-EBAF-AD68-EEF4CADECF9D}"/>
    </ac:deMkLst>
    <p188:replyLst>
      <p188:reply id="{86AA210E-8C1A-42A5-A5C5-A6FE7EC7C4A3}" authorId="{44C4BCD3-837D-6EBD-263A-9DB8C797369F}" created="2025-11-25T15:39:25.995">
        <p188:txBody>
          <a:bodyPr/>
          <a:lstStyle/>
          <a:p>
            <a:r>
              <a:rPr lang="en-US"/>
              <a:t>I pulled the screenshot directly from the CWWP2 csv file. we could also put a screenshot of the portal page.</a:t>
            </a:r>
          </a:p>
        </p188:txBody>
      </p188:reply>
    </p188:replyLst>
    <p188:txBody>
      <a:bodyPr/>
      <a:lstStyle/>
      <a:p>
        <a:r>
          <a:rPr lang="en-US"/>
          <a:t>I think this could work for data but if we talk to Galarus or look back we might have an example of what the data looks like when we get it and I think that would be better.</a:t>
        </a:r>
      </a:p>
    </p188:txBody>
  </p188:cm>
</p188:cmLst>
</file>

<file path=ppt/comments/modernComment_11C_70275786.xml><?xml version="1.0" encoding="utf-8"?>
<p188:cmLst xmlns:a="http://schemas.openxmlformats.org/drawingml/2006/main" xmlns:r="http://schemas.openxmlformats.org/officeDocument/2006/relationships" xmlns:p188="http://schemas.microsoft.com/office/powerpoint/2018/8/main">
  <p188:cm id="{30EC0381-E59B-4935-8BDA-CBA0F17C2986}" authorId="{1FB3F847-87D2-01A9-E995-E89CC23214FE}" created="2025-11-30T01:11:35.205">
    <pc:sldMkLst xmlns:pc="http://schemas.microsoft.com/office/powerpoint/2013/main/command">
      <pc:docMk/>
      <pc:sldMk cId="1145629965" sldId="269"/>
    </pc:sldMkLst>
    <p188:txBody>
      <a:bodyPr/>
      <a:lstStyle/>
      <a:p>
        <a:r>
          <a:rPr lang="en-US"/>
          <a:t>Maybe we add a user flow diagram?</a:t>
        </a:r>
      </a:p>
    </p188:txBody>
  </p188:cm>
</p188:cmLst>
</file>

<file path=ppt/comments/modernComment_109_6EA1E248.xml><?xml version="1.0" encoding="utf-8"?>
<p188:cmLst xmlns:a="http://schemas.openxmlformats.org/drawingml/2006/main" xmlns:r="http://schemas.openxmlformats.org/officeDocument/2006/relationships" xmlns:p188="http://schemas.microsoft.com/office/powerpoint/2018/8/main">
  <p188:cm id="{EC3FCD6F-C70C-4CB3-96CD-DED9F6F5BCA6}" authorId="{1FB3F847-87D2-01A9-E995-E89CC23214FE}" created="2025-11-24T21:23:11.842">
    <pc:sldMkLst xmlns:pc="http://schemas.microsoft.com/office/powerpoint/2013/main/command">
      <pc:docMk/>
      <pc:sldMk cId="1856102984" sldId="265"/>
    </pc:sldMkLst>
    <p188:replyLst>
      <p188:reply id="{49CECFE9-FEFA-4FDC-BEE4-D208B3D9E965}" authorId="{44C4BCD3-837D-6EBD-263A-9DB8C797369F}" created="2025-11-25T15:26:13.225">
        <p188:txBody>
          <a:bodyPr/>
          <a:lstStyle/>
          <a:p>
            <a:r>
              <a:rPr lang="en-US"/>
              <a:t>Doug said to include important requirements so I picked these out but if you feel like some are unnecessary then we can remove them.</a:t>
            </a:r>
          </a:p>
        </p188:txBody>
      </p188:reply>
      <p188:reply id="{17A42DB5-3113-42EA-9F4D-5F662EC27E6B}" authorId="{1FB3F847-87D2-01A9-E995-E89CC23214FE}" created="2025-11-25T20:50:29.888">
        <p188:txBody>
          <a:bodyPr/>
          <a:lstStyle/>
          <a:p>
            <a:r>
              <a:rPr lang="en-US"/>
              <a:t>When I read through them they all looked good I just want to make sur when we present that it is not just us reading these requirements and not explaining why we chose them. I also wasn't sure if we wanted to present them in a different way. </a:t>
            </a:r>
          </a:p>
        </p188:txBody>
      </p188:reply>
    </p188:replyLst>
    <p188:txBody>
      <a:bodyPr/>
      <a:lstStyle/>
      <a:p>
        <a:r>
          <a:rPr lang="en-US"/>
          <a:t>Do we want so many slides on requirements? Should we make presenter notes about why we are highlighting these requirements specifically?</a:t>
        </a:r>
      </a:p>
    </p188:txBody>
  </p188:cm>
</p188:cmLst>
</file>

<file path=ppt/comments/modernComment_112_AD684B97.xml><?xml version="1.0" encoding="utf-8"?>
<p188:cmLst xmlns:a="http://schemas.openxmlformats.org/drawingml/2006/main" xmlns:r="http://schemas.openxmlformats.org/officeDocument/2006/relationships" xmlns:p188="http://schemas.microsoft.com/office/powerpoint/2018/8/main">
  <p188:cm id="{1017B64E-48FD-4A3B-9A69-1FBCA60B0561}" authorId="{863554B7-9464-4D9D-5F57-0ACEA4410EC8}" created="2025-11-19T01:48:43.426">
    <pc:sldMkLst xmlns:pc="http://schemas.microsoft.com/office/powerpoint/2013/main/command">
      <pc:docMk/>
      <pc:sldMk cId="2909293463" sldId="274"/>
    </pc:sldMkLst>
    <p188:txBody>
      <a:bodyPr/>
      <a:lstStyle/>
      <a:p>
        <a:r>
          <a:rPr lang="en-US"/>
          <a:t>This is just a basic outline for the slides. Need to add more images of data, flow, diagrams, wireframes, etc. Likely need to add more slides for more detailed information</a:t>
        </a:r>
      </a:p>
    </p188:txBody>
  </p188:cm>
</p188:cmLst>
</file>

<file path=ppt/comments/modernComment_119_E4757033.xml><?xml version="1.0" encoding="utf-8"?>
<p188:cmLst xmlns:a="http://schemas.openxmlformats.org/drawingml/2006/main" xmlns:r="http://schemas.openxmlformats.org/officeDocument/2006/relationships" xmlns:p188="http://schemas.microsoft.com/office/powerpoint/2018/8/main">
  <p188:cm id="{6A898A96-A248-446A-BF77-9528625DC716}" authorId="{1FB3F847-87D2-01A9-E995-E89CC23214FE}" created="2025-11-30T01:12:45.957">
    <pc:sldMkLst xmlns:pc="http://schemas.microsoft.com/office/powerpoint/2013/main/command">
      <pc:docMk/>
      <pc:sldMk cId="3832901683" sldId="281"/>
    </pc:sldMkLst>
    <p188:txBody>
      <a:bodyPr/>
      <a:lstStyle/>
      <a:p>
        <a:r>
          <a:rPr lang="en-US"/>
          <a:t>I know we are different from last years but this process should be the same correct?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D0BC9-8516-4222-8DD8-61AB943B7368}"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2DD44A-A28A-4F71-98D6-7DAAF6800066}" type="slidenum">
              <a:rPr lang="en-US" smtClean="0"/>
              <a:t>‹#›</a:t>
            </a:fld>
            <a:endParaRPr lang="en-US"/>
          </a:p>
        </p:txBody>
      </p:sp>
    </p:spTree>
    <p:extLst>
      <p:ext uri="{BB962C8B-B14F-4D97-AF65-F5344CB8AC3E}">
        <p14:creationId xmlns:p14="http://schemas.microsoft.com/office/powerpoint/2010/main" val="1483466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2DD44A-A28A-4F71-98D6-7DAAF6800066}" type="slidenum">
              <a:rPr lang="en-US" smtClean="0"/>
              <a:t>1</a:t>
            </a:fld>
            <a:endParaRPr lang="en-US"/>
          </a:p>
        </p:txBody>
      </p:sp>
    </p:spTree>
    <p:extLst>
      <p:ext uri="{BB962C8B-B14F-4D97-AF65-F5344CB8AC3E}">
        <p14:creationId xmlns:p14="http://schemas.microsoft.com/office/powerpoint/2010/main" val="920876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Quinn Cox</a:t>
            </a:r>
          </a:p>
        </p:txBody>
      </p:sp>
      <p:sp>
        <p:nvSpPr>
          <p:cNvPr id="4" name="Slide Number Placeholder 3"/>
          <p:cNvSpPr>
            <a:spLocks noGrp="1"/>
          </p:cNvSpPr>
          <p:nvPr>
            <p:ph type="sldNum" sz="quarter" idx="5"/>
          </p:nvPr>
        </p:nvSpPr>
        <p:spPr/>
        <p:txBody>
          <a:bodyPr/>
          <a:lstStyle/>
          <a:p>
            <a:fld id="{9A2DD44A-A28A-4F71-98D6-7DAAF6800066}" type="slidenum">
              <a:rPr lang="en-US" smtClean="0"/>
              <a:t>3</a:t>
            </a:fld>
            <a:endParaRPr lang="en-US"/>
          </a:p>
        </p:txBody>
      </p:sp>
    </p:spTree>
    <p:extLst>
      <p:ext uri="{BB962C8B-B14F-4D97-AF65-F5344CB8AC3E}">
        <p14:creationId xmlns:p14="http://schemas.microsoft.com/office/powerpoint/2010/main" val="2078234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Quinn Cox</a:t>
            </a:r>
          </a:p>
        </p:txBody>
      </p:sp>
      <p:sp>
        <p:nvSpPr>
          <p:cNvPr id="4" name="Slide Number Placeholder 3"/>
          <p:cNvSpPr>
            <a:spLocks noGrp="1"/>
          </p:cNvSpPr>
          <p:nvPr>
            <p:ph type="sldNum" sz="quarter" idx="5"/>
          </p:nvPr>
        </p:nvSpPr>
        <p:spPr/>
        <p:txBody>
          <a:bodyPr/>
          <a:lstStyle/>
          <a:p>
            <a:fld id="{9A2DD44A-A28A-4F71-98D6-7DAAF6800066}" type="slidenum">
              <a:rPr lang="en-US" smtClean="0"/>
              <a:t>4</a:t>
            </a:fld>
            <a:endParaRPr lang="en-US"/>
          </a:p>
        </p:txBody>
      </p:sp>
    </p:spTree>
    <p:extLst>
      <p:ext uri="{BB962C8B-B14F-4D97-AF65-F5344CB8AC3E}">
        <p14:creationId xmlns:p14="http://schemas.microsoft.com/office/powerpoint/2010/main" val="474771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Hayden Pride: This is our current project timeline. In the fall semester we focused on document and design. We started with a strawman or concept document which consisted of the basic idea behind the project. We moved into our software requirements specification which covered all functional and non-functional requirements of our prototype system. We then moved to the design document, which covered the design of the requirements in detail. Lastly, we have our presentation of our project and documentations.</a:t>
            </a:r>
          </a:p>
        </p:txBody>
      </p:sp>
      <p:sp>
        <p:nvSpPr>
          <p:cNvPr id="4" name="Slide Number Placeholder 3"/>
          <p:cNvSpPr>
            <a:spLocks noGrp="1"/>
          </p:cNvSpPr>
          <p:nvPr>
            <p:ph type="sldNum" sz="quarter" idx="5"/>
          </p:nvPr>
        </p:nvSpPr>
        <p:spPr/>
        <p:txBody>
          <a:bodyPr/>
          <a:lstStyle/>
          <a:p>
            <a:fld id="{9A2DD44A-A28A-4F71-98D6-7DAAF6800066}" type="slidenum">
              <a:rPr lang="en-US" smtClean="0"/>
              <a:t>5</a:t>
            </a:fld>
            <a:endParaRPr lang="en-US"/>
          </a:p>
        </p:txBody>
      </p:sp>
    </p:spTree>
    <p:extLst>
      <p:ext uri="{BB962C8B-B14F-4D97-AF65-F5344CB8AC3E}">
        <p14:creationId xmlns:p14="http://schemas.microsoft.com/office/powerpoint/2010/main" val="3645408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Hayden Pride: This will be the future timeline for next semester. These dates are not solidified but should be very close to when we plan to have things done. We will start with initial development, move to installation, testing and completion of the final version. We will finish up documentation and present our final project at </a:t>
            </a:r>
            <a:r>
              <a:rPr lang="en-US" err="1"/>
              <a:t>TechXPo</a:t>
            </a:r>
            <a:r>
              <a:rPr lang="en-US"/>
              <a:t>.</a:t>
            </a:r>
          </a:p>
        </p:txBody>
      </p:sp>
      <p:sp>
        <p:nvSpPr>
          <p:cNvPr id="4" name="Slide Number Placeholder 3"/>
          <p:cNvSpPr>
            <a:spLocks noGrp="1"/>
          </p:cNvSpPr>
          <p:nvPr>
            <p:ph type="sldNum" sz="quarter" idx="5"/>
          </p:nvPr>
        </p:nvSpPr>
        <p:spPr/>
        <p:txBody>
          <a:bodyPr/>
          <a:lstStyle/>
          <a:p>
            <a:fld id="{9A2DD44A-A28A-4F71-98D6-7DAAF6800066}" type="slidenum">
              <a:rPr lang="en-US" smtClean="0"/>
              <a:t>6</a:t>
            </a:fld>
            <a:endParaRPr lang="en-US"/>
          </a:p>
        </p:txBody>
      </p:sp>
    </p:spTree>
    <p:extLst>
      <p:ext uri="{BB962C8B-B14F-4D97-AF65-F5344CB8AC3E}">
        <p14:creationId xmlns:p14="http://schemas.microsoft.com/office/powerpoint/2010/main" val="1978066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 Steilman</a:t>
            </a:r>
          </a:p>
        </p:txBody>
      </p:sp>
      <p:sp>
        <p:nvSpPr>
          <p:cNvPr id="4" name="Slide Number Placeholder 3"/>
          <p:cNvSpPr>
            <a:spLocks noGrp="1"/>
          </p:cNvSpPr>
          <p:nvPr>
            <p:ph type="sldNum" sz="quarter" idx="5"/>
          </p:nvPr>
        </p:nvSpPr>
        <p:spPr/>
        <p:txBody>
          <a:bodyPr/>
          <a:lstStyle/>
          <a:p>
            <a:fld id="{9A2DD44A-A28A-4F71-98D6-7DAAF6800066}" type="slidenum">
              <a:rPr lang="en-US" smtClean="0"/>
              <a:t>7</a:t>
            </a:fld>
            <a:endParaRPr lang="en-US"/>
          </a:p>
        </p:txBody>
      </p:sp>
    </p:spTree>
    <p:extLst>
      <p:ext uri="{BB962C8B-B14F-4D97-AF65-F5344CB8AC3E}">
        <p14:creationId xmlns:p14="http://schemas.microsoft.com/office/powerpoint/2010/main" val="2231552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 Steilman</a:t>
            </a:r>
          </a:p>
        </p:txBody>
      </p:sp>
      <p:sp>
        <p:nvSpPr>
          <p:cNvPr id="4" name="Slide Number Placeholder 3"/>
          <p:cNvSpPr>
            <a:spLocks noGrp="1"/>
          </p:cNvSpPr>
          <p:nvPr>
            <p:ph type="sldNum" sz="quarter" idx="5"/>
          </p:nvPr>
        </p:nvSpPr>
        <p:spPr/>
        <p:txBody>
          <a:bodyPr/>
          <a:lstStyle/>
          <a:p>
            <a:fld id="{9A2DD44A-A28A-4F71-98D6-7DAAF6800066}" type="slidenum">
              <a:rPr lang="en-US" smtClean="0"/>
              <a:t>8</a:t>
            </a:fld>
            <a:endParaRPr lang="en-US"/>
          </a:p>
        </p:txBody>
      </p:sp>
    </p:spTree>
    <p:extLst>
      <p:ext uri="{BB962C8B-B14F-4D97-AF65-F5344CB8AC3E}">
        <p14:creationId xmlns:p14="http://schemas.microsoft.com/office/powerpoint/2010/main" val="2752888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 Steilman</a:t>
            </a:r>
          </a:p>
        </p:txBody>
      </p:sp>
      <p:sp>
        <p:nvSpPr>
          <p:cNvPr id="4" name="Slide Number Placeholder 3"/>
          <p:cNvSpPr>
            <a:spLocks noGrp="1"/>
          </p:cNvSpPr>
          <p:nvPr>
            <p:ph type="sldNum" sz="quarter" idx="5"/>
          </p:nvPr>
        </p:nvSpPr>
        <p:spPr/>
        <p:txBody>
          <a:bodyPr/>
          <a:lstStyle/>
          <a:p>
            <a:fld id="{9A2DD44A-A28A-4F71-98D6-7DAAF6800066}" type="slidenum">
              <a:rPr lang="en-US" smtClean="0"/>
              <a:t>9</a:t>
            </a:fld>
            <a:endParaRPr lang="en-US"/>
          </a:p>
        </p:txBody>
      </p:sp>
    </p:spTree>
    <p:extLst>
      <p:ext uri="{BB962C8B-B14F-4D97-AF65-F5344CB8AC3E}">
        <p14:creationId xmlns:p14="http://schemas.microsoft.com/office/powerpoint/2010/main" val="4230326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Hayden Pride: This is an outline of the overall scope of our Senior Design project. The primary goal of this system is to build an application that can create, store, process, and send alerts based on real-time RWIS sensor data. RWIS (Road Weather Information System) provides continuous weather and roadway condition measurements, and out system will use those incoming sensor readings to determine when specific conditions cross thresholds defined by users. When that happens, the system generates alerts automatically. The project scope includes both front- and back-end components. On the front-end, we’re designing an interface where users can log in, create, manage, and configure custom alerts, such as air temperature and wind speed. Users will also be able to view weather data. On the back-end, all user information and alerts will be stored in an SQLite database.</a:t>
            </a:r>
          </a:p>
        </p:txBody>
      </p:sp>
      <p:sp>
        <p:nvSpPr>
          <p:cNvPr id="4" name="Slide Number Placeholder 3"/>
          <p:cNvSpPr>
            <a:spLocks noGrp="1"/>
          </p:cNvSpPr>
          <p:nvPr>
            <p:ph type="sldNum" sz="quarter" idx="5"/>
          </p:nvPr>
        </p:nvSpPr>
        <p:spPr/>
        <p:txBody>
          <a:bodyPr/>
          <a:lstStyle/>
          <a:p>
            <a:fld id="{9A2DD44A-A28A-4F71-98D6-7DAAF6800066}" type="slidenum">
              <a:rPr lang="en-US" smtClean="0"/>
              <a:t>11</a:t>
            </a:fld>
            <a:endParaRPr lang="en-US"/>
          </a:p>
        </p:txBody>
      </p:sp>
    </p:spTree>
    <p:extLst>
      <p:ext uri="{BB962C8B-B14F-4D97-AF65-F5344CB8AC3E}">
        <p14:creationId xmlns:p14="http://schemas.microsoft.com/office/powerpoint/2010/main" val="2545898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Hayden Pride: Focusing on the data processing and alerting components, we’ll start by developing Python functions to handle the raw RWIS data provided by Caltrans in CSV formats. These functions will parse and clean the incoming data, which validates that the sensor readings are complete and accurate, and convert units when necessary, so that data is human-friendly. The notification subsystem will be a separate entity but will be a closely integrated component of the design. This project is contained only to software development and will not modify Caltrans or </a:t>
            </a:r>
            <a:r>
              <a:rPr lang="en-US" dirty="0" err="1"/>
              <a:t>Weathershare</a:t>
            </a:r>
            <a:r>
              <a:rPr lang="en-US" dirty="0"/>
              <a:t>.</a:t>
            </a:r>
          </a:p>
        </p:txBody>
      </p:sp>
      <p:sp>
        <p:nvSpPr>
          <p:cNvPr id="4" name="Slide Number Placeholder 3"/>
          <p:cNvSpPr>
            <a:spLocks noGrp="1"/>
          </p:cNvSpPr>
          <p:nvPr>
            <p:ph type="sldNum" sz="quarter" idx="5"/>
          </p:nvPr>
        </p:nvSpPr>
        <p:spPr/>
        <p:txBody>
          <a:bodyPr/>
          <a:lstStyle/>
          <a:p>
            <a:fld id="{9A2DD44A-A28A-4F71-98D6-7DAAF6800066}" type="slidenum">
              <a:rPr lang="en-US" smtClean="0"/>
              <a:t>12</a:t>
            </a:fld>
            <a:endParaRPr lang="en-US"/>
          </a:p>
        </p:txBody>
      </p:sp>
    </p:spTree>
    <p:extLst>
      <p:ext uri="{BB962C8B-B14F-4D97-AF65-F5344CB8AC3E}">
        <p14:creationId xmlns:p14="http://schemas.microsoft.com/office/powerpoint/2010/main" val="824230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Quinn Cox</a:t>
            </a:r>
          </a:p>
        </p:txBody>
      </p:sp>
      <p:sp>
        <p:nvSpPr>
          <p:cNvPr id="4" name="Slide Number Placeholder 3"/>
          <p:cNvSpPr>
            <a:spLocks noGrp="1"/>
          </p:cNvSpPr>
          <p:nvPr>
            <p:ph type="sldNum" sz="quarter" idx="5"/>
          </p:nvPr>
        </p:nvSpPr>
        <p:spPr/>
        <p:txBody>
          <a:bodyPr/>
          <a:lstStyle/>
          <a:p>
            <a:fld id="{9A2DD44A-A28A-4F71-98D6-7DAAF6800066}" type="slidenum">
              <a:rPr lang="en-US" smtClean="0"/>
              <a:t>13</a:t>
            </a:fld>
            <a:endParaRPr lang="en-US"/>
          </a:p>
        </p:txBody>
      </p:sp>
    </p:spTree>
    <p:extLst>
      <p:ext uri="{BB962C8B-B14F-4D97-AF65-F5344CB8AC3E}">
        <p14:creationId xmlns:p14="http://schemas.microsoft.com/office/powerpoint/2010/main" val="350689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Quinn Cox</a:t>
            </a:r>
          </a:p>
        </p:txBody>
      </p:sp>
      <p:sp>
        <p:nvSpPr>
          <p:cNvPr id="4" name="Slide Number Placeholder 3"/>
          <p:cNvSpPr>
            <a:spLocks noGrp="1"/>
          </p:cNvSpPr>
          <p:nvPr>
            <p:ph type="sldNum" sz="quarter" idx="5"/>
          </p:nvPr>
        </p:nvSpPr>
        <p:spPr/>
        <p:txBody>
          <a:bodyPr/>
          <a:lstStyle/>
          <a:p>
            <a:fld id="{9A2DD44A-A28A-4F71-98D6-7DAAF6800066}" type="slidenum">
              <a:rPr lang="en-US" smtClean="0"/>
              <a:t>14</a:t>
            </a:fld>
            <a:endParaRPr lang="en-US"/>
          </a:p>
        </p:txBody>
      </p:sp>
    </p:spTree>
    <p:extLst>
      <p:ext uri="{BB962C8B-B14F-4D97-AF65-F5344CB8AC3E}">
        <p14:creationId xmlns:p14="http://schemas.microsoft.com/office/powerpoint/2010/main" val="2571486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Hayden Pride: Requirement 3.3.1.1 defines the </a:t>
            </a:r>
            <a:r>
              <a:rPr lang="en-US" dirty="0" err="1"/>
              <a:t>compariso</a:t>
            </a:r>
            <a:endParaRPr lang="en-US" dirty="0"/>
          </a:p>
        </p:txBody>
      </p:sp>
      <p:sp>
        <p:nvSpPr>
          <p:cNvPr id="4" name="Slide Number Placeholder 3"/>
          <p:cNvSpPr>
            <a:spLocks noGrp="1"/>
          </p:cNvSpPr>
          <p:nvPr>
            <p:ph type="sldNum" sz="quarter" idx="5"/>
          </p:nvPr>
        </p:nvSpPr>
        <p:spPr/>
        <p:txBody>
          <a:bodyPr/>
          <a:lstStyle/>
          <a:p>
            <a:fld id="{9A2DD44A-A28A-4F71-98D6-7DAAF6800066}" type="slidenum">
              <a:rPr lang="en-US" smtClean="0"/>
              <a:t>15</a:t>
            </a:fld>
            <a:endParaRPr lang="en-US"/>
          </a:p>
        </p:txBody>
      </p:sp>
    </p:spTree>
    <p:extLst>
      <p:ext uri="{BB962C8B-B14F-4D97-AF65-F5344CB8AC3E}">
        <p14:creationId xmlns:p14="http://schemas.microsoft.com/office/powerpoint/2010/main" val="848350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Hayden Pride: Requirement 3.5.1.1 states that the application has to be commonly available. Ours will be available to any modern web browser on a standard desktop or laptop. 3.5.1.2 says that data will come from specific sources, like RWIS CSV files, and be delivered to users through web-based protocols. 3.5.3.1 defines the technologies used and how it will be displayed. 3.5.4.1 says that users are able to configure their own alerts and view them on the web interface.</a:t>
            </a:r>
          </a:p>
        </p:txBody>
      </p:sp>
      <p:sp>
        <p:nvSpPr>
          <p:cNvPr id="4" name="Slide Number Placeholder 3"/>
          <p:cNvSpPr>
            <a:spLocks noGrp="1"/>
          </p:cNvSpPr>
          <p:nvPr>
            <p:ph type="sldNum" sz="quarter" idx="5"/>
          </p:nvPr>
        </p:nvSpPr>
        <p:spPr/>
        <p:txBody>
          <a:bodyPr/>
          <a:lstStyle/>
          <a:p>
            <a:fld id="{9A2DD44A-A28A-4F71-98D6-7DAAF6800066}" type="slidenum">
              <a:rPr lang="en-US" smtClean="0"/>
              <a:t>16</a:t>
            </a:fld>
            <a:endParaRPr lang="en-US"/>
          </a:p>
        </p:txBody>
      </p:sp>
    </p:spTree>
    <p:extLst>
      <p:ext uri="{BB962C8B-B14F-4D97-AF65-F5344CB8AC3E}">
        <p14:creationId xmlns:p14="http://schemas.microsoft.com/office/powerpoint/2010/main" val="7311580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 Steilman</a:t>
            </a:r>
          </a:p>
        </p:txBody>
      </p:sp>
      <p:sp>
        <p:nvSpPr>
          <p:cNvPr id="4" name="Slide Number Placeholder 3"/>
          <p:cNvSpPr>
            <a:spLocks noGrp="1"/>
          </p:cNvSpPr>
          <p:nvPr>
            <p:ph type="sldNum" sz="quarter" idx="5"/>
          </p:nvPr>
        </p:nvSpPr>
        <p:spPr/>
        <p:txBody>
          <a:bodyPr/>
          <a:lstStyle/>
          <a:p>
            <a:fld id="{9A2DD44A-A28A-4F71-98D6-7DAAF6800066}" type="slidenum">
              <a:rPr lang="en-US" smtClean="0"/>
              <a:t>17</a:t>
            </a:fld>
            <a:endParaRPr lang="en-US"/>
          </a:p>
        </p:txBody>
      </p:sp>
    </p:spTree>
    <p:extLst>
      <p:ext uri="{BB962C8B-B14F-4D97-AF65-F5344CB8AC3E}">
        <p14:creationId xmlns:p14="http://schemas.microsoft.com/office/powerpoint/2010/main" val="3103408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 Steilman</a:t>
            </a:r>
          </a:p>
        </p:txBody>
      </p:sp>
      <p:sp>
        <p:nvSpPr>
          <p:cNvPr id="4" name="Slide Number Placeholder 3"/>
          <p:cNvSpPr>
            <a:spLocks noGrp="1"/>
          </p:cNvSpPr>
          <p:nvPr>
            <p:ph type="sldNum" sz="quarter" idx="5"/>
          </p:nvPr>
        </p:nvSpPr>
        <p:spPr/>
        <p:txBody>
          <a:bodyPr/>
          <a:lstStyle/>
          <a:p>
            <a:fld id="{9A2DD44A-A28A-4F71-98D6-7DAAF6800066}" type="slidenum">
              <a:rPr lang="en-US" smtClean="0"/>
              <a:t>18</a:t>
            </a:fld>
            <a:endParaRPr lang="en-US"/>
          </a:p>
        </p:txBody>
      </p:sp>
    </p:spTree>
    <p:extLst>
      <p:ext uri="{BB962C8B-B14F-4D97-AF65-F5344CB8AC3E}">
        <p14:creationId xmlns:p14="http://schemas.microsoft.com/office/powerpoint/2010/main" val="17882349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 Steilman</a:t>
            </a:r>
          </a:p>
        </p:txBody>
      </p:sp>
      <p:sp>
        <p:nvSpPr>
          <p:cNvPr id="4" name="Slide Number Placeholder 3"/>
          <p:cNvSpPr>
            <a:spLocks noGrp="1"/>
          </p:cNvSpPr>
          <p:nvPr>
            <p:ph type="sldNum" sz="quarter" idx="5"/>
          </p:nvPr>
        </p:nvSpPr>
        <p:spPr/>
        <p:txBody>
          <a:bodyPr/>
          <a:lstStyle/>
          <a:p>
            <a:fld id="{9A2DD44A-A28A-4F71-98D6-7DAAF6800066}" type="slidenum">
              <a:rPr lang="en-US" smtClean="0"/>
              <a:t>20</a:t>
            </a:fld>
            <a:endParaRPr lang="en-US"/>
          </a:p>
        </p:txBody>
      </p:sp>
    </p:spTree>
    <p:extLst>
      <p:ext uri="{BB962C8B-B14F-4D97-AF65-F5344CB8AC3E}">
        <p14:creationId xmlns:p14="http://schemas.microsoft.com/office/powerpoint/2010/main" val="1886425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Hayden Pride: These are two major process flow diagrams that make up our system. First, we have the automated data retrieval workflow. At scheduled intervals, the system attempts to connect to the CWWP2 portal. If the connection is unsuccessful, the failure is logged and will try again at the next interval. If successful, the system downloads the RWIS CSV files and checks whether the files are valid and complete. Any invalid files are rejected and retried later. Valid data will be stored in its raw form to be process further. The next diagram shows end-to-end data flow from the user’s perspective. A user opens the application, and a request is sent to a server. The PHP web interface retrieves processed data and returns that information to the user. In parallel, a scheduled Python process runs in the background. The Python component retrieves the RWIS CSV data, cleans it, and then stores the processed results. These diagrams represent how data moves through the system and how the systems communicate.</a:t>
            </a:r>
          </a:p>
        </p:txBody>
      </p:sp>
      <p:sp>
        <p:nvSpPr>
          <p:cNvPr id="4" name="Slide Number Placeholder 3"/>
          <p:cNvSpPr>
            <a:spLocks noGrp="1"/>
          </p:cNvSpPr>
          <p:nvPr>
            <p:ph type="sldNum" sz="quarter" idx="5"/>
          </p:nvPr>
        </p:nvSpPr>
        <p:spPr/>
        <p:txBody>
          <a:bodyPr/>
          <a:lstStyle/>
          <a:p>
            <a:fld id="{9A2DD44A-A28A-4F71-98D6-7DAAF6800066}" type="slidenum">
              <a:rPr lang="en-US" smtClean="0"/>
              <a:t>21</a:t>
            </a:fld>
            <a:endParaRPr lang="en-US"/>
          </a:p>
        </p:txBody>
      </p:sp>
    </p:spTree>
    <p:extLst>
      <p:ext uri="{BB962C8B-B14F-4D97-AF65-F5344CB8AC3E}">
        <p14:creationId xmlns:p14="http://schemas.microsoft.com/office/powerpoint/2010/main" val="786659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DCD52-883A-BE20-CCEA-C34535195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10561-E0B9-C2E8-AAF2-AC34F3EB2A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5CF2FA-62E9-1F19-8A83-C7F76382A937}"/>
              </a:ext>
            </a:extLst>
          </p:cNvPr>
          <p:cNvSpPr>
            <a:spLocks noGrp="1"/>
          </p:cNvSpPr>
          <p:nvPr>
            <p:ph type="body" idx="1"/>
          </p:nvPr>
        </p:nvSpPr>
        <p:spPr/>
        <p:txBody>
          <a:bodyPr/>
          <a:lstStyle/>
          <a:p>
            <a:r>
              <a:rPr lang="en-US" dirty="0"/>
              <a:t>Hayden </a:t>
            </a:r>
            <a:r>
              <a:rPr lang="en-US"/>
              <a:t>Pride: </a:t>
            </a:r>
            <a:endParaRPr lang="en-US" dirty="0"/>
          </a:p>
        </p:txBody>
      </p:sp>
      <p:sp>
        <p:nvSpPr>
          <p:cNvPr id="4" name="Slide Number Placeholder 3">
            <a:extLst>
              <a:ext uri="{FF2B5EF4-FFF2-40B4-BE49-F238E27FC236}">
                <a16:creationId xmlns:a16="http://schemas.microsoft.com/office/drawing/2014/main" id="{C2EC7EB2-B282-512E-4F4F-0E94A122D4E8}"/>
              </a:ext>
            </a:extLst>
          </p:cNvPr>
          <p:cNvSpPr>
            <a:spLocks noGrp="1"/>
          </p:cNvSpPr>
          <p:nvPr>
            <p:ph type="sldNum" sz="quarter" idx="5"/>
          </p:nvPr>
        </p:nvSpPr>
        <p:spPr/>
        <p:txBody>
          <a:bodyPr/>
          <a:lstStyle/>
          <a:p>
            <a:fld id="{9A2DD44A-A28A-4F71-98D6-7DAAF6800066}" type="slidenum">
              <a:rPr lang="en-US" smtClean="0"/>
              <a:t>22</a:t>
            </a:fld>
            <a:endParaRPr lang="en-US"/>
          </a:p>
        </p:txBody>
      </p:sp>
    </p:spTree>
    <p:extLst>
      <p:ext uri="{BB962C8B-B14F-4D97-AF65-F5344CB8AC3E}">
        <p14:creationId xmlns:p14="http://schemas.microsoft.com/office/powerpoint/2010/main" val="33637498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Quinn Cox</a:t>
            </a:r>
          </a:p>
        </p:txBody>
      </p:sp>
      <p:sp>
        <p:nvSpPr>
          <p:cNvPr id="4" name="Slide Number Placeholder 3"/>
          <p:cNvSpPr>
            <a:spLocks noGrp="1"/>
          </p:cNvSpPr>
          <p:nvPr>
            <p:ph type="sldNum" sz="quarter" idx="5"/>
          </p:nvPr>
        </p:nvSpPr>
        <p:spPr/>
        <p:txBody>
          <a:bodyPr/>
          <a:lstStyle/>
          <a:p>
            <a:fld id="{9A2DD44A-A28A-4F71-98D6-7DAAF6800066}" type="slidenum">
              <a:rPr lang="en-US" smtClean="0"/>
              <a:t>23</a:t>
            </a:fld>
            <a:endParaRPr lang="en-US"/>
          </a:p>
        </p:txBody>
      </p:sp>
    </p:spTree>
    <p:extLst>
      <p:ext uri="{BB962C8B-B14F-4D97-AF65-F5344CB8AC3E}">
        <p14:creationId xmlns:p14="http://schemas.microsoft.com/office/powerpoint/2010/main" val="31814031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Quinn Cox</a:t>
            </a:r>
          </a:p>
        </p:txBody>
      </p:sp>
      <p:sp>
        <p:nvSpPr>
          <p:cNvPr id="4" name="Slide Number Placeholder 3"/>
          <p:cNvSpPr>
            <a:spLocks noGrp="1"/>
          </p:cNvSpPr>
          <p:nvPr>
            <p:ph type="sldNum" sz="quarter" idx="5"/>
          </p:nvPr>
        </p:nvSpPr>
        <p:spPr/>
        <p:txBody>
          <a:bodyPr/>
          <a:lstStyle/>
          <a:p>
            <a:fld id="{9A2DD44A-A28A-4F71-98D6-7DAAF6800066}" type="slidenum">
              <a:rPr lang="en-US" smtClean="0"/>
              <a:t>24</a:t>
            </a:fld>
            <a:endParaRPr lang="en-US"/>
          </a:p>
        </p:txBody>
      </p:sp>
    </p:spTree>
    <p:extLst>
      <p:ext uri="{BB962C8B-B14F-4D97-AF65-F5344CB8AC3E}">
        <p14:creationId xmlns:p14="http://schemas.microsoft.com/office/powerpoint/2010/main" val="3648354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 Steilman</a:t>
            </a:r>
          </a:p>
        </p:txBody>
      </p:sp>
      <p:sp>
        <p:nvSpPr>
          <p:cNvPr id="4" name="Slide Number Placeholder 3"/>
          <p:cNvSpPr>
            <a:spLocks noGrp="1"/>
          </p:cNvSpPr>
          <p:nvPr>
            <p:ph type="sldNum" sz="quarter" idx="5"/>
          </p:nvPr>
        </p:nvSpPr>
        <p:spPr/>
        <p:txBody>
          <a:bodyPr/>
          <a:lstStyle/>
          <a:p>
            <a:fld id="{9A2DD44A-A28A-4F71-98D6-7DAAF6800066}" type="slidenum">
              <a:rPr lang="en-US" smtClean="0"/>
              <a:t>25</a:t>
            </a:fld>
            <a:endParaRPr lang="en-US"/>
          </a:p>
        </p:txBody>
      </p:sp>
    </p:spTree>
    <p:extLst>
      <p:ext uri="{BB962C8B-B14F-4D97-AF65-F5344CB8AC3E}">
        <p14:creationId xmlns:p14="http://schemas.microsoft.com/office/powerpoint/2010/main" val="35863077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 Steilman</a:t>
            </a:r>
          </a:p>
        </p:txBody>
      </p:sp>
      <p:sp>
        <p:nvSpPr>
          <p:cNvPr id="4" name="Slide Number Placeholder 3"/>
          <p:cNvSpPr>
            <a:spLocks noGrp="1"/>
          </p:cNvSpPr>
          <p:nvPr>
            <p:ph type="sldNum" sz="quarter" idx="5"/>
          </p:nvPr>
        </p:nvSpPr>
        <p:spPr/>
        <p:txBody>
          <a:bodyPr/>
          <a:lstStyle/>
          <a:p>
            <a:fld id="{9A2DD44A-A28A-4F71-98D6-7DAAF6800066}" type="slidenum">
              <a:rPr lang="en-US" smtClean="0"/>
              <a:t>26</a:t>
            </a:fld>
            <a:endParaRPr lang="en-US"/>
          </a:p>
        </p:txBody>
      </p:sp>
    </p:spTree>
    <p:extLst>
      <p:ext uri="{BB962C8B-B14F-4D97-AF65-F5344CB8AC3E}">
        <p14:creationId xmlns:p14="http://schemas.microsoft.com/office/powerpoint/2010/main" val="2847549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12_AD684B97.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weathershare.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9_6EA1E248.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0B_A33C735D.xml"/><Relationship Id="rId7" Type="http://schemas.openxmlformats.org/officeDocument/2006/relationships/hyperlink" Target="http://www.ntcip.org/library/standards/default.asp?documents=yes&amp;standard=1204"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standards.ieee.org/ieee/29148/6937/" TargetMode="External"/><Relationship Id="rId5" Type="http://schemas.openxmlformats.org/officeDocument/2006/relationships/hyperlink" Target="https://standards.ieee.org/ieee/1016/4502/" TargetMode="External"/><Relationship Id="rId4" Type="http://schemas.openxmlformats.org/officeDocument/2006/relationships/hyperlink" Target="https://ieeexplore.ieee.org/document/457838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0C_87CD58EF.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0D_4448ED0D.xm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1C_70275786.xm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0E_A19BEFEB.xm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18/10/relationships/comments" Target="../comments/modernComment_119_E4757033.xml"/><Relationship Id="rId7"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a:latin typeface="Times New Roman" panose="02020603050405020304" pitchFamily="18" charset="0"/>
                <a:cs typeface="Times New Roman" panose="02020603050405020304" pitchFamily="18" charset="0"/>
              </a:rPr>
              <a:t>Prototype RWIS Alert System</a:t>
            </a:r>
          </a:p>
        </p:txBody>
      </p:sp>
      <p:sp>
        <p:nvSpPr>
          <p:cNvPr id="3" name="Subtitle 2"/>
          <p:cNvSpPr>
            <a:spLocks noGrp="1"/>
          </p:cNvSpPr>
          <p:nvPr>
            <p:ph type="subTitle" idx="1"/>
          </p:nvPr>
        </p:nvSpPr>
        <p:spPr/>
        <p:txBody>
          <a:bodyPr/>
          <a:lstStyle/>
          <a:p>
            <a:r>
              <a:rPr lang="en-US">
                <a:latin typeface="Times New Roman" panose="02020603050405020304" pitchFamily="18" charset="0"/>
                <a:cs typeface="Times New Roman" panose="02020603050405020304" pitchFamily="18" charset="0"/>
              </a:rPr>
              <a:t>By: Senior Design Team</a:t>
            </a:r>
          </a:p>
          <a:p>
            <a:r>
              <a:rPr lang="en-US">
                <a:latin typeface="Times New Roman" panose="02020603050405020304" pitchFamily="18" charset="0"/>
                <a:cs typeface="Times New Roman" panose="02020603050405020304" pitchFamily="18" charset="0"/>
              </a:rPr>
              <a:t>Hayden Pride, Nick Steilman, Quinn Cox</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BA5A7-12F6-5182-2615-63049CAA5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C05CF-5B1F-D71E-B858-A5306FBC579E}"/>
              </a:ext>
            </a:extLst>
          </p:cNvPr>
          <p:cNvSpPr>
            <a:spLocks noGrp="1"/>
          </p:cNvSpPr>
          <p:nvPr>
            <p:ph type="title"/>
          </p:nvPr>
        </p:nvSpPr>
        <p:spPr>
          <a:xfrm>
            <a:off x="838200" y="2766218"/>
            <a:ext cx="10515600" cy="1325563"/>
          </a:xfrm>
        </p:spPr>
        <p:txBody>
          <a:bodyPr>
            <a:normAutofit/>
          </a:bodyPr>
          <a:lstStyle/>
          <a:p>
            <a:pPr algn="ctr"/>
            <a:r>
              <a:rPr lang="en-US" sz="720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2909293463"/>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122AB-8054-C0C6-752C-4D39011F63A7}"/>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Introduction To WeatherShare</a:t>
            </a:r>
          </a:p>
        </p:txBody>
      </p:sp>
      <p:sp>
        <p:nvSpPr>
          <p:cNvPr id="3" name="Content Placeholder 2">
            <a:extLst>
              <a:ext uri="{FF2B5EF4-FFF2-40B4-BE49-F238E27FC236}">
                <a16:creationId xmlns:a16="http://schemas.microsoft.com/office/drawing/2014/main" id="{6BCDA7F7-53D1-DB61-D99A-BF712B22D399}"/>
              </a:ext>
            </a:extLst>
          </p:cNvPr>
          <p:cNvSpPr>
            <a:spLocks noGrp="1"/>
          </p:cNvSpPr>
          <p:nvPr>
            <p:ph idx="1"/>
          </p:nvPr>
        </p:nvSpPr>
        <p:spPr/>
        <p:txBody>
          <a:bodyPr>
            <a:normAutofit lnSpcReduction="10000"/>
          </a:bodyPr>
          <a:lstStyle/>
          <a:p>
            <a:r>
              <a:rPr lang="en-US">
                <a:latin typeface="Times New Roman" panose="02020603050405020304" pitchFamily="18" charset="0"/>
                <a:cs typeface="Times New Roman" panose="02020603050405020304" pitchFamily="18" charset="0"/>
              </a:rPr>
              <a:t>WeatherShare is the principal repository for the storage and viewing of California Department of Transportation (Caltrans) Road Weather Information System (RWIS) data</a:t>
            </a:r>
          </a:p>
          <a:p>
            <a:r>
              <a:rPr lang="en-US">
                <a:latin typeface="Times New Roman" panose="02020603050405020304" pitchFamily="18" charset="0"/>
                <a:cs typeface="Times New Roman" panose="02020603050405020304" pitchFamily="18" charset="0"/>
              </a:rPr>
              <a:t>The system is primarily used by Caltrans personnel, but it can also be accessed by the public by viewing</a:t>
            </a:r>
          </a:p>
          <a:p>
            <a:r>
              <a:rPr lang="en-US">
                <a:latin typeface="Times New Roman" panose="02020603050405020304" pitchFamily="18" charset="0"/>
                <a:cs typeface="Times New Roman" panose="02020603050405020304" pitchFamily="18" charset="0"/>
              </a:rPr>
              <a:t>The system is used to plan and manage winter operations and maintenance</a:t>
            </a:r>
          </a:p>
          <a:p>
            <a:r>
              <a:rPr lang="en-US">
                <a:latin typeface="Times New Roman" panose="02020603050405020304" pitchFamily="18" charset="0"/>
                <a:cs typeface="Times New Roman" panose="02020603050405020304" pitchFamily="18" charset="0"/>
              </a:rPr>
              <a:t>WeatherShare utilizes map-based and tabular interfaces to display RWIS sensor information</a:t>
            </a:r>
          </a:p>
          <a:p>
            <a:r>
              <a:rPr lang="en-US">
                <a:latin typeface="Times New Roman" panose="02020603050405020304" pitchFamily="18" charset="0"/>
                <a:cs typeface="Times New Roman" panose="02020603050405020304" pitchFamily="18" charset="0"/>
              </a:rPr>
              <a:t>WeatherShare can be accessed at </a:t>
            </a:r>
            <a:r>
              <a:rPr lang="en-US">
                <a:latin typeface="Times New Roman" panose="02020603050405020304" pitchFamily="18" charset="0"/>
                <a:cs typeface="Times New Roman" panose="02020603050405020304" pitchFamily="18" charset="0"/>
                <a:hlinkClick r:id="rId3"/>
              </a:rPr>
              <a:t>http://www.weathershare.org/</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0921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EFF88-8808-241B-D6E8-581E1D776481}"/>
              </a:ext>
            </a:extLst>
          </p:cNvPr>
          <p:cNvSpPr>
            <a:spLocks noGrp="1"/>
          </p:cNvSpPr>
          <p:nvPr>
            <p:ph type="title"/>
          </p:nvPr>
        </p:nvSpPr>
        <p:spPr/>
        <p:txBody>
          <a:bodyPr/>
          <a:lstStyle/>
          <a:p>
            <a:r>
              <a:rPr lang="en-US" err="1">
                <a:latin typeface="Times New Roman"/>
                <a:cs typeface="Times New Roman"/>
              </a:rPr>
              <a:t>WeatherShare</a:t>
            </a:r>
            <a:r>
              <a:rPr lang="en-US">
                <a:latin typeface="Times New Roman"/>
                <a:cs typeface="Times New Roman"/>
              </a:rPr>
              <a:t> Map Interface</a:t>
            </a:r>
          </a:p>
        </p:txBody>
      </p:sp>
      <p:pic>
        <p:nvPicPr>
          <p:cNvPr id="4" name="Picture 3" descr="A screenshot of a computer map&#10;&#10;Description automatically generated">
            <a:extLst>
              <a:ext uri="{FF2B5EF4-FFF2-40B4-BE49-F238E27FC236}">
                <a16:creationId xmlns:a16="http://schemas.microsoft.com/office/drawing/2014/main" id="{D6264F84-8797-FD96-E61D-E0E0A7B10C98}"/>
              </a:ext>
            </a:extLst>
          </p:cNvPr>
          <p:cNvPicPr>
            <a:picLocks noChangeAspect="1"/>
          </p:cNvPicPr>
          <p:nvPr/>
        </p:nvPicPr>
        <p:blipFill>
          <a:blip r:embed="rId3"/>
          <a:stretch>
            <a:fillRect/>
          </a:stretch>
        </p:blipFill>
        <p:spPr>
          <a:xfrm>
            <a:off x="1635455" y="1416008"/>
            <a:ext cx="8926039" cy="5139295"/>
          </a:xfrm>
          <a:prstGeom prst="rect">
            <a:avLst/>
          </a:prstGeom>
          <a:ln>
            <a:solidFill>
              <a:schemeClr val="tx1"/>
            </a:solidFill>
          </a:ln>
        </p:spPr>
      </p:pic>
    </p:spTree>
    <p:extLst>
      <p:ext uri="{BB962C8B-B14F-4D97-AF65-F5344CB8AC3E}">
        <p14:creationId xmlns:p14="http://schemas.microsoft.com/office/powerpoint/2010/main" val="2434621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AA1E-334E-9E8B-7749-A6391A56ECDF}"/>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Timeline (Fall 2025)</a:t>
            </a:r>
          </a:p>
        </p:txBody>
      </p:sp>
      <p:sp>
        <p:nvSpPr>
          <p:cNvPr id="3" name="Content Placeholder 2">
            <a:extLst>
              <a:ext uri="{FF2B5EF4-FFF2-40B4-BE49-F238E27FC236}">
                <a16:creationId xmlns:a16="http://schemas.microsoft.com/office/drawing/2014/main" id="{E3AD439F-1F41-3CD3-12C8-97516BFB43C1}"/>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Review Current System (September 26)</a:t>
            </a:r>
          </a:p>
          <a:p>
            <a:r>
              <a:rPr lang="en-US">
                <a:latin typeface="Times New Roman" panose="02020603050405020304" pitchFamily="18" charset="0"/>
                <a:cs typeface="Times New Roman" panose="02020603050405020304" pitchFamily="18" charset="0"/>
              </a:rPr>
              <a:t>Workplan (October 3)</a:t>
            </a:r>
          </a:p>
          <a:p>
            <a:r>
              <a:rPr lang="en-US">
                <a:latin typeface="Times New Roman" panose="02020603050405020304" pitchFamily="18" charset="0"/>
                <a:cs typeface="Times New Roman" panose="02020603050405020304" pitchFamily="18" charset="0"/>
              </a:rPr>
              <a:t>Strawman Document (October 17)</a:t>
            </a:r>
          </a:p>
          <a:p>
            <a:r>
              <a:rPr lang="en-US">
                <a:latin typeface="Times New Roman" panose="02020603050405020304" pitchFamily="18" charset="0"/>
                <a:cs typeface="Times New Roman" panose="02020603050405020304" pitchFamily="18" charset="0"/>
              </a:rPr>
              <a:t>Development Environment (October 17)</a:t>
            </a:r>
          </a:p>
          <a:p>
            <a:r>
              <a:rPr lang="en-US">
                <a:latin typeface="Times New Roman" panose="02020603050405020304" pitchFamily="18" charset="0"/>
                <a:cs typeface="Times New Roman" panose="02020603050405020304" pitchFamily="18" charset="0"/>
              </a:rPr>
              <a:t>Software Requirements Specification (October 31)</a:t>
            </a:r>
          </a:p>
          <a:p>
            <a:r>
              <a:rPr lang="en-US">
                <a:latin typeface="Times New Roman" panose="02020603050405020304" pitchFamily="18" charset="0"/>
                <a:cs typeface="Times New Roman" panose="02020603050405020304" pitchFamily="18" charset="0"/>
              </a:rPr>
              <a:t>Design Document (November 14)</a:t>
            </a:r>
          </a:p>
          <a:p>
            <a:r>
              <a:rPr lang="en-US">
                <a:latin typeface="Times New Roman" panose="02020603050405020304" pitchFamily="18" charset="0"/>
                <a:cs typeface="Times New Roman" panose="02020603050405020304" pitchFamily="18" charset="0"/>
              </a:rPr>
              <a:t>Presentation Draft (November 25)</a:t>
            </a:r>
          </a:p>
          <a:p>
            <a:r>
              <a:rPr lang="en-US">
                <a:latin typeface="Times New Roman" panose="02020603050405020304" pitchFamily="18" charset="0"/>
                <a:cs typeface="Times New Roman" panose="02020603050405020304" pitchFamily="18" charset="0"/>
              </a:rPr>
              <a:t>Final Design Presentation (December 1-5)</a:t>
            </a:r>
          </a:p>
        </p:txBody>
      </p:sp>
    </p:spTree>
    <p:extLst>
      <p:ext uri="{BB962C8B-B14F-4D97-AF65-F5344CB8AC3E}">
        <p14:creationId xmlns:p14="http://schemas.microsoft.com/office/powerpoint/2010/main" val="3528062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1A714-7E28-968B-73D7-B7D4CB423E5D}"/>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Timeline (Spring 2026)</a:t>
            </a:r>
          </a:p>
        </p:txBody>
      </p:sp>
      <p:sp>
        <p:nvSpPr>
          <p:cNvPr id="3" name="Content Placeholder 2">
            <a:extLst>
              <a:ext uri="{FF2B5EF4-FFF2-40B4-BE49-F238E27FC236}">
                <a16:creationId xmlns:a16="http://schemas.microsoft.com/office/drawing/2014/main" id="{D27D9ACD-337C-9DF7-3442-502C386851CB}"/>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Initial Development of Prototype System Complete (February 13)</a:t>
            </a:r>
          </a:p>
          <a:p>
            <a:r>
              <a:rPr lang="en-US">
                <a:latin typeface="Times New Roman" panose="02020603050405020304" pitchFamily="18" charset="0"/>
                <a:cs typeface="Times New Roman" panose="02020603050405020304" pitchFamily="18" charset="0"/>
              </a:rPr>
              <a:t>Installation and Implementation Guide (February 13)</a:t>
            </a:r>
          </a:p>
          <a:p>
            <a:r>
              <a:rPr lang="en-US">
                <a:latin typeface="Times New Roman" panose="02020603050405020304" pitchFamily="18" charset="0"/>
                <a:cs typeface="Times New Roman" panose="02020603050405020304" pitchFamily="18" charset="0"/>
              </a:rPr>
              <a:t>Implement/Test Prototype System (February 27)</a:t>
            </a:r>
          </a:p>
          <a:p>
            <a:r>
              <a:rPr lang="en-US">
                <a:latin typeface="Times New Roman" panose="02020603050405020304" pitchFamily="18" charset="0"/>
                <a:cs typeface="Times New Roman" panose="02020603050405020304" pitchFamily="18" charset="0"/>
              </a:rPr>
              <a:t>Final Version of Prototype System (February 27)</a:t>
            </a:r>
          </a:p>
          <a:p>
            <a:r>
              <a:rPr lang="en-US">
                <a:latin typeface="Times New Roman" panose="02020603050405020304" pitchFamily="18" charset="0"/>
                <a:cs typeface="Times New Roman" panose="02020603050405020304" pitchFamily="18" charset="0"/>
              </a:rPr>
              <a:t>System Documentation (March 6)</a:t>
            </a:r>
          </a:p>
          <a:p>
            <a:r>
              <a:rPr lang="en-US">
                <a:latin typeface="Times New Roman" panose="02020603050405020304" pitchFamily="18" charset="0"/>
                <a:cs typeface="Times New Roman" panose="02020603050405020304" pitchFamily="18" charset="0"/>
              </a:rPr>
              <a:t>Final Presentation (March 23-27)</a:t>
            </a:r>
          </a:p>
          <a:p>
            <a:r>
              <a:rPr lang="en-US" err="1">
                <a:latin typeface="Times New Roman" panose="02020603050405020304" pitchFamily="18" charset="0"/>
                <a:cs typeface="Times New Roman" panose="02020603050405020304" pitchFamily="18" charset="0"/>
              </a:rPr>
              <a:t>TechXPo</a:t>
            </a:r>
            <a:r>
              <a:rPr lang="en-US">
                <a:latin typeface="Times New Roman" panose="02020603050405020304" pitchFamily="18" charset="0"/>
                <a:cs typeface="Times New Roman" panose="02020603050405020304" pitchFamily="18" charset="0"/>
              </a:rPr>
              <a:t> Poster Presentation (April 23)</a:t>
            </a:r>
          </a:p>
          <a:p>
            <a:r>
              <a:rPr lang="en-US">
                <a:latin typeface="Times New Roman" panose="02020603050405020304" pitchFamily="18" charset="0"/>
                <a:cs typeface="Times New Roman" panose="02020603050405020304" pitchFamily="18" charset="0"/>
              </a:rPr>
              <a:t>Final Journal Document (April 30)</a:t>
            </a:r>
          </a:p>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887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6B957-AF2F-34B1-594C-0C2ACD34A6F5}"/>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Prototype Alert System</a:t>
            </a:r>
          </a:p>
        </p:txBody>
      </p:sp>
      <p:sp>
        <p:nvSpPr>
          <p:cNvPr id="3" name="Content Placeholder 2">
            <a:extLst>
              <a:ext uri="{FF2B5EF4-FFF2-40B4-BE49-F238E27FC236}">
                <a16:creationId xmlns:a16="http://schemas.microsoft.com/office/drawing/2014/main" id="{E835CC86-E894-DE38-C257-8A1FE9D845CC}"/>
              </a:ext>
            </a:extLst>
          </p:cNvPr>
          <p:cNvSpPr>
            <a:spLocks noGrp="1"/>
          </p:cNvSpPr>
          <p:nvPr>
            <p:ph idx="1"/>
          </p:nvPr>
        </p:nvSpPr>
        <p:spPr/>
        <p:txBody>
          <a:bodyPr vert="horz" lIns="91440" tIns="45720" rIns="91440" bIns="45720" rtlCol="0" anchor="t">
            <a:normAutofit/>
          </a:bodyPr>
          <a:lstStyle/>
          <a:p>
            <a:r>
              <a:rPr lang="en-US">
                <a:latin typeface="Times New Roman"/>
                <a:cs typeface="Times New Roman"/>
              </a:rPr>
              <a:t>The Alert System will allow users to login through </a:t>
            </a:r>
            <a:r>
              <a:rPr lang="en-US" err="1">
                <a:latin typeface="Times New Roman"/>
                <a:cs typeface="Times New Roman"/>
              </a:rPr>
              <a:t>WeatherShare</a:t>
            </a:r>
            <a:r>
              <a:rPr lang="en-US">
                <a:latin typeface="Times New Roman"/>
                <a:cs typeface="Times New Roman"/>
              </a:rPr>
              <a:t>,  choose specific threshold values for sensor readings to facilitate the sending an alert notification on timing specifications decided by the user.</a:t>
            </a:r>
          </a:p>
          <a:p>
            <a:r>
              <a:rPr lang="en-US">
                <a:latin typeface="Times New Roman"/>
                <a:cs typeface="Times New Roman"/>
              </a:rPr>
              <a:t>The System will rely on Caltrans CSV (Comma Separated Value) files to receive sensor readings and determine whether they have reached a threshold value</a:t>
            </a:r>
          </a:p>
          <a:p>
            <a:r>
              <a:rPr lang="en-US">
                <a:latin typeface="Times New Roman"/>
                <a:cs typeface="Times New Roman"/>
              </a:rPr>
              <a:t>The System will not perform actual notifications, but will provide a feed that can be used by a separate subsystem to disseminate notifications</a:t>
            </a:r>
          </a:p>
        </p:txBody>
      </p:sp>
    </p:spTree>
    <p:extLst>
      <p:ext uri="{BB962C8B-B14F-4D97-AF65-F5344CB8AC3E}">
        <p14:creationId xmlns:p14="http://schemas.microsoft.com/office/powerpoint/2010/main" val="134565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891E9-DD9A-83A4-8569-E65058611713}"/>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Prototype RWIS Alert System Interface</a:t>
            </a:r>
          </a:p>
        </p:txBody>
      </p:sp>
      <p:pic>
        <p:nvPicPr>
          <p:cNvPr id="1026" name="Picture 2">
            <a:extLst>
              <a:ext uri="{FF2B5EF4-FFF2-40B4-BE49-F238E27FC236}">
                <a16:creationId xmlns:a16="http://schemas.microsoft.com/office/drawing/2014/main" id="{88C08251-548E-85BA-25D9-F6F1DF65D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900" y="1690688"/>
            <a:ext cx="11252199" cy="375073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21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CB3EB-EE70-9A9A-B34F-59026915E76D}"/>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Prototype RWIS Alert System Wire Frame</a:t>
            </a:r>
          </a:p>
        </p:txBody>
      </p:sp>
      <p:pic>
        <p:nvPicPr>
          <p:cNvPr id="2050" name="Picture 2">
            <a:extLst>
              <a:ext uri="{FF2B5EF4-FFF2-40B4-BE49-F238E27FC236}">
                <a16:creationId xmlns:a16="http://schemas.microsoft.com/office/drawing/2014/main" id="{FF3EFC95-9250-C0EB-7C85-DD09C14E9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0270" y="1575488"/>
            <a:ext cx="7831667" cy="4867906"/>
          </a:xfrm>
          <a:prstGeom prst="rect">
            <a:avLst/>
          </a:prstGeom>
          <a:noFill/>
          <a:ln w="12700">
            <a:solidFill>
              <a:schemeClr val="tx1"/>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75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54106-0CDA-6058-8AE9-CAE2AA07F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E374A-6BAA-7ACF-107A-0980A644DA44}"/>
              </a:ext>
            </a:extLst>
          </p:cNvPr>
          <p:cNvSpPr>
            <a:spLocks noGrp="1"/>
          </p:cNvSpPr>
          <p:nvPr>
            <p:ph type="title"/>
          </p:nvPr>
        </p:nvSpPr>
        <p:spPr>
          <a:xfrm>
            <a:off x="838200" y="2766218"/>
            <a:ext cx="10515600" cy="1325563"/>
          </a:xfrm>
        </p:spPr>
        <p:txBody>
          <a:bodyPr>
            <a:normAutofit/>
          </a:bodyPr>
          <a:lstStyle/>
          <a:p>
            <a:pPr algn="ctr"/>
            <a:r>
              <a:rPr lang="en-US" sz="7200">
                <a:latin typeface="Times New Roman" panose="02020603050405020304" pitchFamily="18" charset="0"/>
                <a:cs typeface="Times New Roman" panose="02020603050405020304" pitchFamily="18" charset="0"/>
              </a:rPr>
              <a:t>Scope</a:t>
            </a:r>
          </a:p>
        </p:txBody>
      </p:sp>
    </p:spTree>
    <p:extLst>
      <p:ext uri="{BB962C8B-B14F-4D97-AF65-F5344CB8AC3E}">
        <p14:creationId xmlns:p14="http://schemas.microsoft.com/office/powerpoint/2010/main" val="550264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6D273-90D4-3821-2AFA-64B47E0B0D4C}"/>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Scope Definition</a:t>
            </a:r>
          </a:p>
        </p:txBody>
      </p:sp>
      <p:sp>
        <p:nvSpPr>
          <p:cNvPr id="3" name="Content Placeholder 2">
            <a:extLst>
              <a:ext uri="{FF2B5EF4-FFF2-40B4-BE49-F238E27FC236}">
                <a16:creationId xmlns:a16="http://schemas.microsoft.com/office/drawing/2014/main" id="{CBCCEECD-0C31-F34A-8082-B578D8D8C997}"/>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The scope of the Senior Design Project is to design an application that facilitates the creation, storage, processing of alerts, and facilitates the dissemination of alert notification based on real-time RWIS data. </a:t>
            </a:r>
          </a:p>
          <a:p>
            <a:r>
              <a:rPr lang="en-US">
                <a:latin typeface="Times New Roman" panose="02020603050405020304" pitchFamily="18" charset="0"/>
                <a:cs typeface="Times New Roman" panose="02020603050405020304" pitchFamily="18" charset="0"/>
              </a:rPr>
              <a:t>The project includes both front- and back-end components. Front end will be an interface developed to allow users to create and manage profiles, define alerts by setting threshold values for sensor readings, and view processed data.</a:t>
            </a:r>
          </a:p>
          <a:p>
            <a:r>
              <a:rPr lang="en-US">
                <a:latin typeface="Times New Roman" panose="02020603050405020304" pitchFamily="18" charset="0"/>
                <a:cs typeface="Times New Roman" panose="02020603050405020304" pitchFamily="18" charset="0"/>
              </a:rPr>
              <a:t>The back-end will rely on an SQLite database to store user profile information and alert parameters set by users.</a:t>
            </a:r>
          </a:p>
        </p:txBody>
      </p:sp>
    </p:spTree>
    <p:extLst>
      <p:ext uri="{BB962C8B-B14F-4D97-AF65-F5344CB8AC3E}">
        <p14:creationId xmlns:p14="http://schemas.microsoft.com/office/powerpoint/2010/main" val="3468772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6C6F-E5FD-1868-5362-85C7CC626476}"/>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Scope Definition</a:t>
            </a:r>
          </a:p>
        </p:txBody>
      </p:sp>
      <p:sp>
        <p:nvSpPr>
          <p:cNvPr id="3" name="Content Placeholder 2">
            <a:extLst>
              <a:ext uri="{FF2B5EF4-FFF2-40B4-BE49-F238E27FC236}">
                <a16:creationId xmlns:a16="http://schemas.microsoft.com/office/drawing/2014/main" id="{F43AC204-DFAD-B424-0795-BB526FF55281}"/>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Python functions will be written to process weather condition data obtained from Caltrans CSV files. Functions will include parsing inputs, validating the data, and performing unit conversions to present the data in human-friendly conventions.</a:t>
            </a:r>
          </a:p>
          <a:p>
            <a:r>
              <a:rPr lang="en-US">
                <a:latin typeface="Times New Roman" panose="02020603050405020304" pitchFamily="18" charset="0"/>
                <a:cs typeface="Times New Roman" panose="02020603050405020304" pitchFamily="18" charset="0"/>
              </a:rPr>
              <a:t>A separate subsystem will be responsible for alerting users via email or SMS when conditions are met. The Prototype System will provide a feed that can be used by the subsystem to enable timely notifications to users.</a:t>
            </a:r>
          </a:p>
          <a:p>
            <a:r>
              <a:rPr lang="en-US">
                <a:latin typeface="Times New Roman" panose="02020603050405020304" pitchFamily="18" charset="0"/>
                <a:cs typeface="Times New Roman" panose="02020603050405020304" pitchFamily="18" charset="0"/>
              </a:rPr>
              <a:t>This project is contained to software development only, with no modifications to Caltrans or WeatherShare.</a:t>
            </a:r>
          </a:p>
        </p:txBody>
      </p:sp>
    </p:spTree>
    <p:extLst>
      <p:ext uri="{BB962C8B-B14F-4D97-AF65-F5344CB8AC3E}">
        <p14:creationId xmlns:p14="http://schemas.microsoft.com/office/powerpoint/2010/main" val="1773123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99C0A-57E6-BFFE-DFF9-54D3DB290683}"/>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Requirements</a:t>
            </a:r>
          </a:p>
        </p:txBody>
      </p:sp>
      <p:sp>
        <p:nvSpPr>
          <p:cNvPr id="3" name="Content Placeholder 2">
            <a:extLst>
              <a:ext uri="{FF2B5EF4-FFF2-40B4-BE49-F238E27FC236}">
                <a16:creationId xmlns:a16="http://schemas.microsoft.com/office/drawing/2014/main" id="{82321AEE-384D-CB23-9A1A-DC497F431D32}"/>
              </a:ext>
            </a:extLst>
          </p:cNvPr>
          <p:cNvSpPr>
            <a:spLocks noGrp="1"/>
          </p:cNvSpPr>
          <p:nvPr>
            <p:ph idx="1"/>
          </p:nvPr>
        </p:nvSpPr>
        <p:spPr/>
        <p:txBody>
          <a:bodyPr vert="horz" lIns="91440" tIns="45720" rIns="91440" bIns="45720" rtlCol="0" anchor="t">
            <a:normAutofit/>
          </a:bodyPr>
          <a:lstStyle/>
          <a:p>
            <a:pPr marL="457200" indent="-457200"/>
            <a:r>
              <a:rPr lang="en-US" dirty="0">
                <a:latin typeface="Times New Roman"/>
                <a:cs typeface="Times New Roman"/>
              </a:rPr>
              <a:t>3.1.3.1 Users shall access The System via web browser.</a:t>
            </a:r>
          </a:p>
          <a:p>
            <a:pPr marL="457200" indent="-457200"/>
            <a:r>
              <a:rPr lang="en-US" dirty="0">
                <a:latin typeface="Times New Roman" panose="02020603050405020304" pitchFamily="18" charset="0"/>
                <a:cs typeface="Times New Roman" panose="02020603050405020304" pitchFamily="18" charset="0"/>
              </a:rPr>
              <a:t>3.1.3.2 Users shall access The System exclusively via the Internet.</a:t>
            </a:r>
          </a:p>
          <a:p>
            <a:pPr marL="457200" indent="-457200"/>
            <a:r>
              <a:rPr lang="en-US" dirty="0">
                <a:latin typeface="Times New Roman"/>
                <a:cs typeface="Times New Roman"/>
              </a:rPr>
              <a:t>3.1.4.1 The System shall generate and display internal alerts based on user-defined weather condition thresholds but shall not send external alerts (e.g., emails, SMS, or third-party messages).</a:t>
            </a:r>
            <a:endParaRPr lang="en-US" i="1" dirty="0">
              <a:latin typeface="Times New Roman"/>
              <a:cs typeface="Times New Roman"/>
            </a:endParaRPr>
          </a:p>
          <a:p>
            <a:pPr marL="0" indent="0">
              <a:buNone/>
            </a:pP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6102984"/>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2E929-C147-0871-3B4A-4628EC03EC99}"/>
              </a:ext>
            </a:extLst>
          </p:cNvPr>
          <p:cNvSpPr>
            <a:spLocks noGrp="1"/>
          </p:cNvSpPr>
          <p:nvPr>
            <p:ph type="title"/>
          </p:nvPr>
        </p:nvSpPr>
        <p:spPr/>
        <p:txBody>
          <a:bodyPr/>
          <a:lstStyle/>
          <a:p>
            <a:r>
              <a:rPr lang="en-US">
                <a:latin typeface="Times New Roman"/>
                <a:cs typeface="Times New Roman"/>
              </a:rPr>
              <a:t>Requirements </a:t>
            </a:r>
            <a:r>
              <a:rPr lang="en-US">
                <a:latin typeface="Times New Roman"/>
                <a:ea typeface="+mj-lt"/>
                <a:cs typeface="+mj-lt"/>
              </a:rPr>
              <a:t>Continued.</a:t>
            </a:r>
            <a:r>
              <a:rPr lang="en-US">
                <a:ea typeface="+mj-lt"/>
                <a:cs typeface="+mj-lt"/>
              </a:rPr>
              <a:t> </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1004F8-93DC-15A0-980F-7B7548195AB6}"/>
              </a:ext>
            </a:extLst>
          </p:cNvPr>
          <p:cNvSpPr>
            <a:spLocks noGrp="1"/>
          </p:cNvSpPr>
          <p:nvPr>
            <p:ph idx="1"/>
          </p:nvPr>
        </p:nvSpPr>
        <p:spPr/>
        <p:txBody>
          <a:bodyPr vert="horz" lIns="91440" tIns="45720" rIns="91440" bIns="45720" rtlCol="0" anchor="t">
            <a:normAutofit/>
          </a:bodyPr>
          <a:lstStyle/>
          <a:p>
            <a:pPr marL="457200" indent="-457200"/>
            <a:r>
              <a:rPr lang="en-US" dirty="0">
                <a:latin typeface="Times New Roman" panose="02020603050405020304" pitchFamily="18" charset="0"/>
                <a:cs typeface="Times New Roman" panose="02020603050405020304" pitchFamily="18" charset="0"/>
              </a:rPr>
              <a:t>3.2.2.1 The System shall retrieve RWIS data and metadata from the CWWP2 online portal.</a:t>
            </a:r>
            <a:endParaRPr lang="en-US" dirty="0"/>
          </a:p>
          <a:p>
            <a:pPr marL="457200" indent="-457200"/>
            <a:r>
              <a:rPr lang="en-US" dirty="0">
                <a:latin typeface="Times New Roman" panose="02020603050405020304" pitchFamily="18" charset="0"/>
                <a:cs typeface="Times New Roman" panose="02020603050405020304" pitchFamily="18" charset="0"/>
              </a:rPr>
              <a:t>3.2.2.2 The System shall add processed data into a temporary data file until all sensor readings have been processed.</a:t>
            </a:r>
          </a:p>
          <a:p>
            <a:pPr marL="457200" indent="-457200"/>
            <a:r>
              <a:rPr lang="en-US" dirty="0">
                <a:latin typeface="Times New Roman" panose="02020603050405020304" pitchFamily="18" charset="0"/>
                <a:cs typeface="Times New Roman" panose="02020603050405020304" pitchFamily="18" charset="0"/>
              </a:rPr>
              <a:t>3.2.3.1 The System shall store User credentials and User defined parameters in an SQLite database.</a:t>
            </a:r>
          </a:p>
          <a:p>
            <a:pPr marL="457200" indent="-457200"/>
            <a:r>
              <a:rPr lang="en-US" dirty="0">
                <a:latin typeface="Times New Roman" panose="02020603050405020304" pitchFamily="18" charset="0"/>
                <a:cs typeface="Times New Roman" panose="02020603050405020304" pitchFamily="18" charset="0"/>
              </a:rPr>
              <a:t>3.2.4.1 Users shall view current and recent conditions, as reported by RWIS, via a tabular interface.</a:t>
            </a:r>
          </a:p>
          <a:p>
            <a:pPr marL="457200" indent="-457200"/>
            <a:r>
              <a:rPr lang="en-US" dirty="0">
                <a:latin typeface="Times New Roman" panose="02020603050405020304" pitchFamily="18" charset="0"/>
                <a:cs typeface="Times New Roman" panose="02020603050405020304" pitchFamily="18" charset="0"/>
              </a:rPr>
              <a:t>3.3.1.1 Alerts shall be defined based exclusively on RWIS data.</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9278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A71C4-25B5-9289-7E9F-EBF1099CAAAE}"/>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Requirements Continued.</a:t>
            </a:r>
          </a:p>
        </p:txBody>
      </p:sp>
      <p:sp>
        <p:nvSpPr>
          <p:cNvPr id="3" name="Content Placeholder 2">
            <a:extLst>
              <a:ext uri="{FF2B5EF4-FFF2-40B4-BE49-F238E27FC236}">
                <a16:creationId xmlns:a16="http://schemas.microsoft.com/office/drawing/2014/main" id="{5AF3AF2D-6D17-03C9-1D30-A9384ADA1353}"/>
              </a:ext>
            </a:extLst>
          </p:cNvPr>
          <p:cNvSpPr>
            <a:spLocks noGrp="1"/>
          </p:cNvSpPr>
          <p:nvPr>
            <p:ph idx="1"/>
          </p:nvPr>
        </p:nvSpPr>
        <p:spPr/>
        <p:txBody>
          <a:bodyPr vert="horz" lIns="91440" tIns="45720" rIns="91440" bIns="45720" rtlCol="0" anchor="t">
            <a:normAutofit fontScale="92500" lnSpcReduction="20000"/>
          </a:bodyPr>
          <a:lstStyle/>
          <a:p>
            <a:pPr marL="342900" indent="-342900"/>
            <a:r>
              <a:rPr lang="en-US" sz="2400">
                <a:latin typeface="Times New Roman"/>
                <a:cs typeface="Times New Roman"/>
              </a:rPr>
              <a:t>3.3.1.4 Conditions shall be defined using comparison operators: less than, less than or equal to, equals, greater than or equal to, greater than, not equal to, between (inclusive range), between (exclusive range).</a:t>
            </a:r>
            <a:endParaRPr lang="en-US"/>
          </a:p>
          <a:p>
            <a:pPr marL="342900" indent="-342900"/>
            <a:r>
              <a:rPr lang="en-US" sz="2400">
                <a:latin typeface="Times New Roman"/>
                <a:cs typeface="Times New Roman"/>
              </a:rPr>
              <a:t>3.3.2.1 Alert conditions shall be evaluated when new RWIS sensor readings are read by The System.</a:t>
            </a:r>
          </a:p>
          <a:p>
            <a:pPr marL="342900" indent="-342900"/>
            <a:r>
              <a:rPr lang="en-US" sz="2400">
                <a:latin typeface="Times New Roman"/>
                <a:cs typeface="Times New Roman"/>
              </a:rPr>
              <a:t>3.4.1.1 The System shall retrieve new data from external sources to correspond with update schedules for those sources. </a:t>
            </a:r>
          </a:p>
          <a:p>
            <a:pPr marL="342900" indent="-342900"/>
            <a:r>
              <a:rPr lang="en-US" sz="2400">
                <a:latin typeface="Times New Roman"/>
                <a:cs typeface="Times New Roman"/>
              </a:rPr>
              <a:t>3.4.1.2 The System shall recognize and immediately process data retrieved by The System from external sources.</a:t>
            </a:r>
          </a:p>
          <a:p>
            <a:pPr marL="342900" indent="-342900"/>
            <a:r>
              <a:rPr lang="en-US" sz="2400">
                <a:latin typeface="Times New Roman"/>
                <a:cs typeface="Times New Roman"/>
              </a:rPr>
              <a:t>3.4.4.1 Upon the addition, modification, or deletion of an alerts, The System shall not require significant alteration (no system reboot or recompilation of source code is required).</a:t>
            </a:r>
          </a:p>
          <a:p>
            <a:pPr marL="342900" indent="-342900"/>
            <a:r>
              <a:rPr lang="en-US" sz="2400">
                <a:latin typeface="Times New Roman"/>
                <a:cs typeface="Times New Roman"/>
              </a:rPr>
              <a:t>3.4.4.4 The RWIS Subsystem shall read, extract, preprocess, and store data in a way that is intuitive and easy to manage.</a:t>
            </a:r>
            <a:endParaRPr lang="en-US" sz="2400" i="1">
              <a:latin typeface="Times New Roman"/>
              <a:cs typeface="Times New Roman"/>
            </a:endParaRPr>
          </a:p>
        </p:txBody>
      </p:sp>
    </p:spTree>
    <p:extLst>
      <p:ext uri="{BB962C8B-B14F-4D97-AF65-F5344CB8AC3E}">
        <p14:creationId xmlns:p14="http://schemas.microsoft.com/office/powerpoint/2010/main" val="1490254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002E-DEBF-929D-EB56-2FD6883C4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90A17-0D59-5585-B6C0-E397AF358002}"/>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Requirements Continued.</a:t>
            </a:r>
          </a:p>
        </p:txBody>
      </p:sp>
      <p:sp>
        <p:nvSpPr>
          <p:cNvPr id="3" name="Content Placeholder 2">
            <a:extLst>
              <a:ext uri="{FF2B5EF4-FFF2-40B4-BE49-F238E27FC236}">
                <a16:creationId xmlns:a16="http://schemas.microsoft.com/office/drawing/2014/main" id="{E783FE2D-4C72-2CAC-7CFF-C1A65985F555}"/>
              </a:ext>
            </a:extLst>
          </p:cNvPr>
          <p:cNvSpPr>
            <a:spLocks noGrp="1"/>
          </p:cNvSpPr>
          <p:nvPr>
            <p:ph idx="1"/>
          </p:nvPr>
        </p:nvSpPr>
        <p:spPr/>
        <p:txBody>
          <a:bodyPr vert="horz" lIns="91440" tIns="45720" rIns="91440" bIns="45720" rtlCol="0" anchor="t">
            <a:normAutofit lnSpcReduction="10000"/>
          </a:bodyPr>
          <a:lstStyle/>
          <a:p>
            <a:pPr marL="457200" indent="-457200">
              <a:buFont typeface="Arial"/>
            </a:pPr>
            <a:r>
              <a:rPr lang="en-US">
                <a:latin typeface="Times New Roman"/>
                <a:cs typeface="Times New Roman"/>
              </a:rPr>
              <a:t>3.5.1.1 The application shall be available via commonly available, recent versions of web browser software running on a desktop or laptop PC platform. </a:t>
            </a:r>
            <a:endParaRPr lang="en-US"/>
          </a:p>
          <a:p>
            <a:pPr marL="457200" indent="-457200">
              <a:buFont typeface="Arial"/>
            </a:pPr>
            <a:r>
              <a:rPr lang="en-US">
                <a:latin typeface="Times New Roman"/>
                <a:cs typeface="Times New Roman"/>
              </a:rPr>
              <a:t>3.5.1.2 The application shall pull in data from specific sources and provide that data to user groups via web-based protocols.</a:t>
            </a:r>
          </a:p>
          <a:p>
            <a:pPr marL="457200" indent="-457200">
              <a:buFont typeface="Arial"/>
            </a:pPr>
            <a:r>
              <a:rPr lang="en-US">
                <a:latin typeface="Times New Roman"/>
                <a:cs typeface="Times New Roman"/>
              </a:rPr>
              <a:t>3.5.3.1 The System’s web interface shall be implemented using HTML5, CSS, and JavaScript and shall display RWIS data and alert conditions through an interactive browser-based dashboard.</a:t>
            </a:r>
          </a:p>
          <a:p>
            <a:pPr marL="457200" indent="-457200">
              <a:buFont typeface="Arial"/>
            </a:pPr>
            <a:r>
              <a:rPr lang="en-US">
                <a:latin typeface="Times New Roman"/>
                <a:cs typeface="Times New Roman"/>
              </a:rPr>
              <a:t>3.5.4.1 The application shall allow authorized users to configure weather condition thresholds, select RWIS stations, and view resulting alerts through an interactive web interface.</a:t>
            </a:r>
            <a:endParaRPr lang="en-US" i="1">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3859454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44327-0992-A3E0-FAD8-7801E167158A}"/>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Standards</a:t>
            </a:r>
          </a:p>
        </p:txBody>
      </p:sp>
      <p:sp>
        <p:nvSpPr>
          <p:cNvPr id="3" name="Content Placeholder 2">
            <a:extLst>
              <a:ext uri="{FF2B5EF4-FFF2-40B4-BE49-F238E27FC236}">
                <a16:creationId xmlns:a16="http://schemas.microsoft.com/office/drawing/2014/main" id="{F2F09AD5-A4E0-C76F-6778-8CE7D08CD378}"/>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Where applicable, we will identify and follow the appropriate IEEE standards, as well as other project-specific standards.</a:t>
            </a:r>
          </a:p>
          <a:p>
            <a:r>
              <a:rPr lang="en-US">
                <a:latin typeface="Times New Roman" panose="02020603050405020304" pitchFamily="18" charset="0"/>
                <a:cs typeface="Times New Roman" panose="02020603050405020304" pitchFamily="18" charset="0"/>
              </a:rPr>
              <a:t>We understand that we may not be able to have full conformance with the following standards and others covering the software engineering/development process in the scope of a one-year senior design project.</a:t>
            </a:r>
          </a:p>
          <a:p>
            <a:r>
              <a:rPr lang="en-US">
                <a:latin typeface="Times New Roman" panose="02020603050405020304" pitchFamily="18" charset="0"/>
                <a:cs typeface="Times New Roman" panose="02020603050405020304" pitchFamily="18" charset="0"/>
              </a:rPr>
              <a:t>A best effort shall be made to identify and apply appropriate standards to the project.</a:t>
            </a:r>
          </a:p>
        </p:txBody>
      </p:sp>
    </p:spTree>
    <p:extLst>
      <p:ext uri="{BB962C8B-B14F-4D97-AF65-F5344CB8AC3E}">
        <p14:creationId xmlns:p14="http://schemas.microsoft.com/office/powerpoint/2010/main" val="798142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2AB3D-176A-D247-DBA6-3822E42B98D8}"/>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Standards</a:t>
            </a:r>
          </a:p>
        </p:txBody>
      </p:sp>
      <p:sp>
        <p:nvSpPr>
          <p:cNvPr id="3" name="Content Placeholder 2">
            <a:extLst>
              <a:ext uri="{FF2B5EF4-FFF2-40B4-BE49-F238E27FC236}">
                <a16:creationId xmlns:a16="http://schemas.microsoft.com/office/drawing/2014/main" id="{ED3E29DA-C4F0-527C-44B0-6CD5D725058C}"/>
              </a:ext>
            </a:extLst>
          </p:cNvPr>
          <p:cNvSpPr>
            <a:spLocks noGrp="1"/>
          </p:cNvSpPr>
          <p:nvPr>
            <p:ph idx="1"/>
          </p:nvPr>
        </p:nvSpPr>
        <p:spPr/>
        <p:txBody>
          <a:bodyPr vert="horz" lIns="91440" tIns="45720" rIns="91440" bIns="45720" rtlCol="0" anchor="t">
            <a:normAutofit/>
          </a:bodyPr>
          <a:lstStyle/>
          <a:p>
            <a:r>
              <a:rPr lang="en-US" sz="2400">
                <a:latin typeface="Times New Roman"/>
                <a:cs typeface="Times New Roman"/>
              </a:rPr>
              <a:t>IEEE Standard for Software and System Test Documentation, IEEE 829-2008. </a:t>
            </a:r>
            <a:r>
              <a:rPr lang="en-US" sz="2400" u="sng">
                <a:latin typeface="Times New Roman"/>
                <a:cs typeface="Times New Roman"/>
                <a:hlinkClick r:id="rId4"/>
              </a:rPr>
              <a:t>https://ieeexplore.ieee.org/document/4578383</a:t>
            </a:r>
            <a:endParaRPr lang="en-US" sz="2400" u="sng">
              <a:latin typeface="Times New Roman"/>
              <a:cs typeface="Times New Roman"/>
            </a:endParaRPr>
          </a:p>
          <a:p>
            <a:r>
              <a:rPr lang="en-US" sz="2400">
                <a:latin typeface="Times New Roman"/>
                <a:cs typeface="Times New Roman"/>
              </a:rPr>
              <a:t>IEEE Standard for Information Technology-Systems Design--Software Design Descriptions, IEEE​</a:t>
            </a:r>
            <a:br>
              <a:rPr lang="en-US" sz="2400">
                <a:latin typeface="Times New Roman" panose="02020603050405020304" pitchFamily="18" charset="0"/>
                <a:cs typeface="Times New Roman" panose="02020603050405020304" pitchFamily="18" charset="0"/>
              </a:rPr>
            </a:br>
            <a:r>
              <a:rPr lang="en-US" sz="2400">
                <a:latin typeface="Times New Roman"/>
                <a:cs typeface="Times New Roman"/>
              </a:rPr>
              <a:t>1016-2009. </a:t>
            </a:r>
            <a:r>
              <a:rPr lang="en-US" sz="2400" u="sng">
                <a:latin typeface="Times New Roman"/>
                <a:cs typeface="Times New Roman"/>
                <a:hlinkClick r:id="rId5"/>
              </a:rPr>
              <a:t>https://standards.ieee.org/ieee/1016/4502/</a:t>
            </a:r>
            <a:endParaRPr lang="en-US" sz="2400" u="sng">
              <a:latin typeface="Times New Roman"/>
              <a:cs typeface="Times New Roman"/>
            </a:endParaRPr>
          </a:p>
          <a:p>
            <a:r>
              <a:rPr lang="en-US" sz="2400">
                <a:latin typeface="Times New Roman"/>
                <a:cs typeface="Times New Roman"/>
              </a:rPr>
              <a:t>ISO/IEC/IEEE International Standard - Systems and software engineering -- Life cycle processes --Requirements engineering, IEEE/ISO/IEC 29148-2018. </a:t>
            </a:r>
            <a:r>
              <a:rPr lang="en-US" sz="2400" u="sng">
                <a:latin typeface="Times New Roman"/>
                <a:cs typeface="Times New Roman"/>
                <a:hlinkClick r:id="rId6"/>
              </a:rPr>
              <a:t>https://standards.ieee.org/ieee/29148/6937/</a:t>
            </a:r>
            <a:endParaRPr lang="en-US" sz="2400" u="sng">
              <a:latin typeface="Times New Roman"/>
              <a:cs typeface="Times New Roman"/>
            </a:endParaRPr>
          </a:p>
          <a:p>
            <a:r>
              <a:rPr lang="en-US" sz="2400">
                <a:latin typeface="Times New Roman"/>
                <a:cs typeface="Times New Roman"/>
              </a:rPr>
              <a:t>NTCIP 1204, Environmental Sensor Station Interface Standard: </a:t>
            </a:r>
            <a:r>
              <a:rPr lang="en-US" sz="2400" u="sng">
                <a:latin typeface="Times New Roman"/>
                <a:cs typeface="Times New Roman"/>
                <a:hlinkClick r:id="rId7"/>
              </a:rPr>
              <a:t>http://www.ntcip.org/library/standards/default.asp?documents=yes&amp;standard=1204</a:t>
            </a:r>
            <a:r>
              <a:rPr lang="en-US" sz="2400">
                <a:latin typeface="Times New Roman"/>
                <a:cs typeface="Times New Roman"/>
              </a:rPr>
              <a:t> </a:t>
            </a:r>
          </a:p>
          <a:p>
            <a:pPr algn="just"/>
            <a:endParaRPr lang="en-US" sz="2000">
              <a:latin typeface="Times New Roman"/>
              <a:cs typeface="Times New Roman"/>
            </a:endParaRPr>
          </a:p>
          <a:p>
            <a:endParaRPr lang="en-US" u="sng">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647901"/>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7BB18-B816-2B07-E95D-66CDAB66687A}"/>
              </a:ext>
            </a:extLst>
          </p:cNvPr>
          <p:cNvSpPr>
            <a:spLocks noGrp="1"/>
          </p:cNvSpPr>
          <p:nvPr>
            <p:ph type="title"/>
          </p:nvPr>
        </p:nvSpPr>
        <p:spPr>
          <a:xfrm>
            <a:off x="838200" y="2766218"/>
            <a:ext cx="10515600" cy="1325563"/>
          </a:xfrm>
        </p:spPr>
        <p:txBody>
          <a:bodyPr>
            <a:normAutofit/>
          </a:bodyPr>
          <a:lstStyle/>
          <a:p>
            <a:pPr algn="ctr"/>
            <a:r>
              <a:rPr lang="en-US" sz="7200">
                <a:latin typeface="Times New Roman" panose="02020603050405020304" pitchFamily="18" charset="0"/>
                <a:cs typeface="Times New Roman" panose="02020603050405020304" pitchFamily="18" charset="0"/>
              </a:rPr>
              <a:t>Design</a:t>
            </a:r>
          </a:p>
        </p:txBody>
      </p:sp>
    </p:spTree>
    <p:extLst>
      <p:ext uri="{BB962C8B-B14F-4D97-AF65-F5344CB8AC3E}">
        <p14:creationId xmlns:p14="http://schemas.microsoft.com/office/powerpoint/2010/main" val="4152303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0B21F-F94D-3A18-F2EC-E41CD5324263}"/>
              </a:ext>
            </a:extLst>
          </p:cNvPr>
          <p:cNvSpPr>
            <a:spLocks noGrp="1"/>
          </p:cNvSpPr>
          <p:nvPr>
            <p:ph type="title"/>
          </p:nvPr>
        </p:nvSpPr>
        <p:spPr/>
        <p:txBody>
          <a:bodyPr/>
          <a:lstStyle/>
          <a:p>
            <a:r>
              <a:rPr lang="en-US">
                <a:latin typeface="Times New Roman"/>
                <a:cs typeface="Times New Roman"/>
              </a:rPr>
              <a:t>Design Introduction</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F4AC47A-1CD0-4D9A-14E6-C6CAEF50FBF1}"/>
              </a:ext>
            </a:extLst>
          </p:cNvPr>
          <p:cNvSpPr>
            <a:spLocks noGrp="1"/>
          </p:cNvSpPr>
          <p:nvPr>
            <p:ph idx="1"/>
          </p:nvPr>
        </p:nvSpPr>
        <p:spPr>
          <a:xfrm>
            <a:off x="838200" y="1691155"/>
            <a:ext cx="10515600" cy="4485808"/>
          </a:xfrm>
        </p:spPr>
        <p:txBody>
          <a:bodyPr vert="horz" lIns="91440" tIns="45720" rIns="91440" bIns="45720" rtlCol="0" anchor="t">
            <a:normAutofit/>
          </a:bodyPr>
          <a:lstStyle/>
          <a:p>
            <a:r>
              <a:rPr lang="en-US">
                <a:latin typeface="Times New Roman"/>
                <a:cs typeface="Times New Roman"/>
              </a:rPr>
              <a:t>Front End: All user interactions such as log on, alert creation, and displaying data will be handled by a web-based interface using a locally hosted server. </a:t>
            </a:r>
          </a:p>
          <a:p>
            <a:endParaRPr lang="en-US">
              <a:latin typeface="Times New Roman"/>
              <a:cs typeface="Times New Roman"/>
            </a:endParaRPr>
          </a:p>
          <a:p>
            <a:r>
              <a:rPr lang="en-US">
                <a:latin typeface="Times New Roman"/>
                <a:cs typeface="Times New Roman"/>
              </a:rPr>
              <a:t>Back End: Python will be used for data retrieval and alert evaluation. An SQLite database will be used to store alert definition and relevant weather data. </a:t>
            </a:r>
          </a:p>
          <a:p>
            <a:endParaRPr lang="en-US"/>
          </a:p>
        </p:txBody>
      </p:sp>
    </p:spTree>
    <p:extLst>
      <p:ext uri="{BB962C8B-B14F-4D97-AF65-F5344CB8AC3E}">
        <p14:creationId xmlns:p14="http://schemas.microsoft.com/office/powerpoint/2010/main" val="2278381807"/>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48A8C-9584-4072-EDD6-BFA03BCFB041}"/>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Flow Diagrams</a:t>
            </a:r>
          </a:p>
        </p:txBody>
      </p:sp>
      <p:pic>
        <p:nvPicPr>
          <p:cNvPr id="4" name="Content Placeholder 3" descr="A diagram of a software process&#10;&#10;AI-generated content may be incorrect.">
            <a:extLst>
              <a:ext uri="{FF2B5EF4-FFF2-40B4-BE49-F238E27FC236}">
                <a16:creationId xmlns:a16="http://schemas.microsoft.com/office/drawing/2014/main" id="{3392FD7E-0F10-48F7-E838-D8CACFBD8DF5}"/>
              </a:ext>
            </a:extLst>
          </p:cNvPr>
          <p:cNvPicPr>
            <a:picLocks noGrp="1" noChangeAspect="1"/>
          </p:cNvPicPr>
          <p:nvPr>
            <p:ph idx="1"/>
          </p:nvPr>
        </p:nvPicPr>
        <p:blipFill>
          <a:blip r:embed="rId4"/>
          <a:stretch>
            <a:fillRect/>
          </a:stretch>
        </p:blipFill>
        <p:spPr>
          <a:xfrm>
            <a:off x="7004636" y="469858"/>
            <a:ext cx="4498179" cy="6019500"/>
          </a:xfrm>
          <a:prstGeom prst="rect">
            <a:avLst/>
          </a:prstGeom>
          <a:ln>
            <a:solidFill>
              <a:schemeClr val="tx1"/>
            </a:solidFill>
          </a:ln>
        </p:spPr>
      </p:pic>
      <p:pic>
        <p:nvPicPr>
          <p:cNvPr id="5" name="Picture 4" descr="A diagram of a computer system&#10;&#10;AI-generated content may be incorrect.">
            <a:extLst>
              <a:ext uri="{FF2B5EF4-FFF2-40B4-BE49-F238E27FC236}">
                <a16:creationId xmlns:a16="http://schemas.microsoft.com/office/drawing/2014/main" id="{67EC7741-4F49-96CC-394C-1B253C348D7C}"/>
              </a:ext>
            </a:extLst>
          </p:cNvPr>
          <p:cNvPicPr>
            <a:picLocks noChangeAspect="1"/>
          </p:cNvPicPr>
          <p:nvPr/>
        </p:nvPicPr>
        <p:blipFill>
          <a:blip r:embed="rId5"/>
          <a:stretch>
            <a:fillRect/>
          </a:stretch>
        </p:blipFill>
        <p:spPr>
          <a:xfrm>
            <a:off x="1299261" y="1611141"/>
            <a:ext cx="5124450" cy="4562475"/>
          </a:xfrm>
          <a:prstGeom prst="rect">
            <a:avLst/>
          </a:prstGeom>
        </p:spPr>
      </p:pic>
    </p:spTree>
    <p:extLst>
      <p:ext uri="{BB962C8B-B14F-4D97-AF65-F5344CB8AC3E}">
        <p14:creationId xmlns:p14="http://schemas.microsoft.com/office/powerpoint/2010/main" val="1145629965"/>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08190-7704-9C6C-3830-134A58F88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83B22E-63D7-8A2A-B28C-75130188662F}"/>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Flow Diagrams</a:t>
            </a:r>
          </a:p>
        </p:txBody>
      </p:sp>
      <p:pic>
        <p:nvPicPr>
          <p:cNvPr id="7" name="Picture 6" descr="A diagram of a flowchart&#10;&#10;AI-generated content may be incorrect.">
            <a:extLst>
              <a:ext uri="{FF2B5EF4-FFF2-40B4-BE49-F238E27FC236}">
                <a16:creationId xmlns:a16="http://schemas.microsoft.com/office/drawing/2014/main" id="{097FD1C8-FAFE-EA4D-88E2-31F2E1AF88C4}"/>
              </a:ext>
            </a:extLst>
          </p:cNvPr>
          <p:cNvPicPr>
            <a:picLocks noChangeAspect="1"/>
          </p:cNvPicPr>
          <p:nvPr/>
        </p:nvPicPr>
        <p:blipFill>
          <a:blip r:embed="rId4"/>
          <a:stretch>
            <a:fillRect/>
          </a:stretch>
        </p:blipFill>
        <p:spPr>
          <a:xfrm>
            <a:off x="838200" y="1404078"/>
            <a:ext cx="3604846" cy="50772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descr="A diagram of a process&#10;&#10;AI-generated content may be incorrect.">
            <a:extLst>
              <a:ext uri="{FF2B5EF4-FFF2-40B4-BE49-F238E27FC236}">
                <a16:creationId xmlns:a16="http://schemas.microsoft.com/office/drawing/2014/main" id="{A6548B76-F6AF-C600-C8CE-01B95F229CD7}"/>
              </a:ext>
            </a:extLst>
          </p:cNvPr>
          <p:cNvPicPr>
            <a:picLocks noChangeAspect="1"/>
          </p:cNvPicPr>
          <p:nvPr/>
        </p:nvPicPr>
        <p:blipFill>
          <a:blip r:embed="rId5"/>
          <a:stretch>
            <a:fillRect/>
          </a:stretch>
        </p:blipFill>
        <p:spPr>
          <a:xfrm>
            <a:off x="7748956" y="428155"/>
            <a:ext cx="2550717" cy="60016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81626502"/>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4C9D-8D9B-FB94-8ABD-D76255958D80}"/>
              </a:ext>
            </a:extLst>
          </p:cNvPr>
          <p:cNvSpPr>
            <a:spLocks noGrp="1"/>
          </p:cNvSpPr>
          <p:nvPr>
            <p:ph type="title"/>
          </p:nvPr>
        </p:nvSpPr>
        <p:spPr/>
        <p:txBody>
          <a:bodyPr/>
          <a:lstStyle/>
          <a:p>
            <a:r>
              <a:rPr lang="en-US">
                <a:latin typeface="Times New Roman"/>
                <a:cs typeface="Times New Roman"/>
              </a:rPr>
              <a:t>Data: Raw</a:t>
            </a:r>
          </a:p>
        </p:txBody>
      </p:sp>
      <p:sp>
        <p:nvSpPr>
          <p:cNvPr id="3" name="Content Placeholder 2">
            <a:extLst>
              <a:ext uri="{FF2B5EF4-FFF2-40B4-BE49-F238E27FC236}">
                <a16:creationId xmlns:a16="http://schemas.microsoft.com/office/drawing/2014/main" id="{81D4D91C-1E66-F0FD-2D01-06ED2906D0D1}"/>
              </a:ext>
            </a:extLst>
          </p:cNvPr>
          <p:cNvSpPr>
            <a:spLocks noGrp="1"/>
          </p:cNvSpPr>
          <p:nvPr>
            <p:ph idx="1"/>
          </p:nvPr>
        </p:nvSpPr>
        <p:spPr>
          <a:xfrm>
            <a:off x="838200" y="1364132"/>
            <a:ext cx="5127812" cy="4351338"/>
          </a:xfrm>
        </p:spPr>
        <p:txBody>
          <a:bodyPr vert="horz" lIns="91440" tIns="45720" rIns="91440" bIns="45720" rtlCol="0" anchor="t">
            <a:normAutofit/>
          </a:bodyPr>
          <a:lstStyle/>
          <a:p>
            <a:r>
              <a:rPr lang="en-US" dirty="0"/>
              <a:t>Example of what data looks like before processing:</a:t>
            </a:r>
          </a:p>
          <a:p>
            <a:endParaRPr lang="en-US"/>
          </a:p>
          <a:p>
            <a:endParaRPr lang="en-US"/>
          </a:p>
          <a:p>
            <a:pPr marL="0" indent="0">
              <a:buNone/>
            </a:pPr>
            <a:endParaRPr lang="en-US"/>
          </a:p>
          <a:p>
            <a:endParaRPr lang="en-US"/>
          </a:p>
          <a:p>
            <a:endParaRPr lang="en-US"/>
          </a:p>
        </p:txBody>
      </p:sp>
      <p:pic>
        <p:nvPicPr>
          <p:cNvPr id="6" name="Picture 5" descr="A diagram of data storage&#10;&#10;AI-generated content may be incorrect.">
            <a:extLst>
              <a:ext uri="{FF2B5EF4-FFF2-40B4-BE49-F238E27FC236}">
                <a16:creationId xmlns:a16="http://schemas.microsoft.com/office/drawing/2014/main" id="{834AA27B-BBA7-DCAC-F0E7-CA2DD59CB008}"/>
              </a:ext>
            </a:extLst>
          </p:cNvPr>
          <p:cNvPicPr>
            <a:picLocks noChangeAspect="1"/>
          </p:cNvPicPr>
          <p:nvPr/>
        </p:nvPicPr>
        <p:blipFill>
          <a:blip r:embed="rId4"/>
          <a:stretch>
            <a:fillRect/>
          </a:stretch>
        </p:blipFill>
        <p:spPr>
          <a:xfrm>
            <a:off x="7984464" y="2536830"/>
            <a:ext cx="3712690" cy="3259608"/>
          </a:xfrm>
          <a:prstGeom prst="rect">
            <a:avLst/>
          </a:prstGeom>
          <a:ln>
            <a:solidFill>
              <a:schemeClr val="tx1"/>
            </a:solidFill>
          </a:ln>
        </p:spPr>
      </p:pic>
      <p:pic>
        <p:nvPicPr>
          <p:cNvPr id="4" name="Picture 3" descr="A screenshot of a graph&#10;&#10;Description automatically generated">
            <a:extLst>
              <a:ext uri="{FF2B5EF4-FFF2-40B4-BE49-F238E27FC236}">
                <a16:creationId xmlns:a16="http://schemas.microsoft.com/office/drawing/2014/main" id="{69A5A7A1-D55A-426B-05CC-E2A94C496C4E}"/>
              </a:ext>
            </a:extLst>
          </p:cNvPr>
          <p:cNvPicPr>
            <a:picLocks noChangeAspect="1"/>
          </p:cNvPicPr>
          <p:nvPr/>
        </p:nvPicPr>
        <p:blipFill>
          <a:blip r:embed="rId5"/>
          <a:stretch>
            <a:fillRect/>
          </a:stretch>
        </p:blipFill>
        <p:spPr>
          <a:xfrm>
            <a:off x="407831" y="2497158"/>
            <a:ext cx="7287297" cy="3355487"/>
          </a:xfrm>
          <a:prstGeom prst="rect">
            <a:avLst/>
          </a:prstGeom>
          <a:ln>
            <a:solidFill>
              <a:schemeClr val="tx1"/>
            </a:solidFill>
          </a:ln>
        </p:spPr>
      </p:pic>
    </p:spTree>
    <p:extLst>
      <p:ext uri="{BB962C8B-B14F-4D97-AF65-F5344CB8AC3E}">
        <p14:creationId xmlns:p14="http://schemas.microsoft.com/office/powerpoint/2010/main" val="2711351275"/>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B5262-4B74-4686-40A3-A91390E21764}"/>
              </a:ext>
            </a:extLst>
          </p:cNvPr>
          <p:cNvSpPr>
            <a:spLocks noGrp="1"/>
          </p:cNvSpPr>
          <p:nvPr>
            <p:ph type="title"/>
          </p:nvPr>
        </p:nvSpPr>
        <p:spPr/>
        <p:txBody>
          <a:bodyPr/>
          <a:lstStyle/>
          <a:p>
            <a:r>
              <a:rPr lang="en-US">
                <a:latin typeface="Times New Roman"/>
                <a:cs typeface="Times New Roman"/>
              </a:rPr>
              <a:t>Data: Processed</a:t>
            </a:r>
          </a:p>
        </p:txBody>
      </p:sp>
      <p:pic>
        <p:nvPicPr>
          <p:cNvPr id="6" name="Content Placeholder 5" descr="A screenshot of a graph&#10;&#10;AI-generated content may be incorrect.">
            <a:extLst>
              <a:ext uri="{FF2B5EF4-FFF2-40B4-BE49-F238E27FC236}">
                <a16:creationId xmlns:a16="http://schemas.microsoft.com/office/drawing/2014/main" id="{C14F2AA9-8502-9E10-4670-1B6A019ACEE3}"/>
              </a:ext>
            </a:extLst>
          </p:cNvPr>
          <p:cNvPicPr>
            <a:picLocks noGrp="1" noChangeAspect="1"/>
          </p:cNvPicPr>
          <p:nvPr>
            <p:ph idx="1"/>
          </p:nvPr>
        </p:nvPicPr>
        <p:blipFill>
          <a:blip r:embed="rId3"/>
          <a:stretch>
            <a:fillRect/>
          </a:stretch>
        </p:blipFill>
        <p:spPr>
          <a:xfrm>
            <a:off x="4877202" y="956514"/>
            <a:ext cx="7149117" cy="2462012"/>
          </a:xfrm>
          <a:prstGeom prst="rect">
            <a:avLst/>
          </a:prstGeom>
          <a:ln>
            <a:solidFill>
              <a:schemeClr val="tx1"/>
            </a:solidFill>
          </a:ln>
        </p:spPr>
      </p:pic>
      <p:pic>
        <p:nvPicPr>
          <p:cNvPr id="7" name="Picture 6" descr="A screenshot of a graph&#10;&#10;AI-generated content may be incorrect.">
            <a:extLst>
              <a:ext uri="{FF2B5EF4-FFF2-40B4-BE49-F238E27FC236}">
                <a16:creationId xmlns:a16="http://schemas.microsoft.com/office/drawing/2014/main" id="{968C5B8C-9D37-9F1B-4664-45D2E79537E4}"/>
              </a:ext>
            </a:extLst>
          </p:cNvPr>
          <p:cNvPicPr>
            <a:picLocks noChangeAspect="1"/>
          </p:cNvPicPr>
          <p:nvPr/>
        </p:nvPicPr>
        <p:blipFill>
          <a:blip r:embed="rId4"/>
          <a:stretch>
            <a:fillRect/>
          </a:stretch>
        </p:blipFill>
        <p:spPr>
          <a:xfrm>
            <a:off x="504624" y="3580260"/>
            <a:ext cx="11526189" cy="2917198"/>
          </a:xfrm>
          <a:prstGeom prst="rect">
            <a:avLst/>
          </a:prstGeom>
          <a:ln>
            <a:solidFill>
              <a:schemeClr val="tx1"/>
            </a:solidFill>
          </a:ln>
        </p:spPr>
      </p:pic>
    </p:spTree>
    <p:extLst>
      <p:ext uri="{BB962C8B-B14F-4D97-AF65-F5344CB8AC3E}">
        <p14:creationId xmlns:p14="http://schemas.microsoft.com/office/powerpoint/2010/main" val="1573076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E88DE-045A-8664-A612-938FE00BC640}"/>
              </a:ext>
            </a:extLst>
          </p:cNvPr>
          <p:cNvSpPr>
            <a:spLocks noGrp="1"/>
          </p:cNvSpPr>
          <p:nvPr>
            <p:ph type="title"/>
          </p:nvPr>
        </p:nvSpPr>
        <p:spPr/>
        <p:txBody>
          <a:bodyPr/>
          <a:lstStyle/>
          <a:p>
            <a:r>
              <a:rPr lang="en-US">
                <a:latin typeface="Times New Roman"/>
                <a:cs typeface="Times New Roman"/>
              </a:rPr>
              <a:t>Converting Example Data</a:t>
            </a:r>
          </a:p>
        </p:txBody>
      </p:sp>
      <p:pic>
        <p:nvPicPr>
          <p:cNvPr id="4" name="Picture 3" descr="A screenshot of a graph&#10;&#10;Description automatically generated">
            <a:extLst>
              <a:ext uri="{FF2B5EF4-FFF2-40B4-BE49-F238E27FC236}">
                <a16:creationId xmlns:a16="http://schemas.microsoft.com/office/drawing/2014/main" id="{814FE3B1-F538-C7B7-7C57-EF9E7A8E0939}"/>
              </a:ext>
            </a:extLst>
          </p:cNvPr>
          <p:cNvPicPr>
            <a:picLocks noChangeAspect="1"/>
          </p:cNvPicPr>
          <p:nvPr/>
        </p:nvPicPr>
        <p:blipFill>
          <a:blip r:embed="rId4"/>
          <a:srcRect l="76341" t="895" r="10576" b="7895"/>
          <a:stretch/>
        </p:blipFill>
        <p:spPr>
          <a:xfrm>
            <a:off x="397296" y="1672466"/>
            <a:ext cx="1300301" cy="4313125"/>
          </a:xfrm>
          <a:prstGeom prst="rect">
            <a:avLst/>
          </a:prstGeom>
        </p:spPr>
      </p:pic>
      <p:pic>
        <p:nvPicPr>
          <p:cNvPr id="5" name="Picture 4" descr="A screenshot of a graph&#10;&#10;Description automatically generated">
            <a:extLst>
              <a:ext uri="{FF2B5EF4-FFF2-40B4-BE49-F238E27FC236}">
                <a16:creationId xmlns:a16="http://schemas.microsoft.com/office/drawing/2014/main" id="{31C9147F-0AC8-AA3C-FBAB-2FA5CF220C36}"/>
              </a:ext>
            </a:extLst>
          </p:cNvPr>
          <p:cNvPicPr>
            <a:picLocks noChangeAspect="1"/>
          </p:cNvPicPr>
          <p:nvPr/>
        </p:nvPicPr>
        <p:blipFill>
          <a:blip r:embed="rId5"/>
          <a:srcRect l="1527" t="199" r="1145" b="6780"/>
          <a:stretch/>
        </p:blipFill>
        <p:spPr>
          <a:xfrm>
            <a:off x="10716674" y="1555940"/>
            <a:ext cx="1267969" cy="4648827"/>
          </a:xfrm>
          <a:prstGeom prst="rect">
            <a:avLst/>
          </a:prstGeom>
        </p:spPr>
      </p:pic>
      <p:pic>
        <p:nvPicPr>
          <p:cNvPr id="6" name="Picture 5" descr="A screenshot of a cell phone&#10;&#10;Description automatically generated">
            <a:extLst>
              <a:ext uri="{FF2B5EF4-FFF2-40B4-BE49-F238E27FC236}">
                <a16:creationId xmlns:a16="http://schemas.microsoft.com/office/drawing/2014/main" id="{10E2C0A4-35BD-5D75-0F3A-ADC7C197EC55}"/>
              </a:ext>
            </a:extLst>
          </p:cNvPr>
          <p:cNvPicPr>
            <a:picLocks noChangeAspect="1"/>
          </p:cNvPicPr>
          <p:nvPr/>
        </p:nvPicPr>
        <p:blipFill>
          <a:blip r:embed="rId6"/>
          <a:srcRect r="3580" b="158"/>
          <a:stretch/>
        </p:blipFill>
        <p:spPr>
          <a:xfrm>
            <a:off x="2639167" y="2424416"/>
            <a:ext cx="2013648" cy="3133672"/>
          </a:xfrm>
          <a:prstGeom prst="rect">
            <a:avLst/>
          </a:prstGeom>
        </p:spPr>
      </p:pic>
      <p:pic>
        <p:nvPicPr>
          <p:cNvPr id="7" name="Picture 6" descr="A screenshot of a computer code&#10;&#10;Description automatically generated">
            <a:extLst>
              <a:ext uri="{FF2B5EF4-FFF2-40B4-BE49-F238E27FC236}">
                <a16:creationId xmlns:a16="http://schemas.microsoft.com/office/drawing/2014/main" id="{A04F9A76-5066-28BC-0945-E4C177F5AD39}"/>
              </a:ext>
            </a:extLst>
          </p:cNvPr>
          <p:cNvPicPr>
            <a:picLocks noChangeAspect="1"/>
          </p:cNvPicPr>
          <p:nvPr/>
        </p:nvPicPr>
        <p:blipFill>
          <a:blip r:embed="rId7"/>
          <a:srcRect r="100" b="93002"/>
          <a:stretch/>
        </p:blipFill>
        <p:spPr>
          <a:xfrm>
            <a:off x="5333798" y="3427265"/>
            <a:ext cx="4545480" cy="258660"/>
          </a:xfrm>
          <a:prstGeom prst="rect">
            <a:avLst/>
          </a:prstGeom>
        </p:spPr>
      </p:pic>
      <p:sp>
        <p:nvSpPr>
          <p:cNvPr id="8" name="Arrow: Right 7">
            <a:extLst>
              <a:ext uri="{FF2B5EF4-FFF2-40B4-BE49-F238E27FC236}">
                <a16:creationId xmlns:a16="http://schemas.microsoft.com/office/drawing/2014/main" id="{8A5F893E-3C4D-43CD-00B8-55F5F15B4EC6}"/>
              </a:ext>
            </a:extLst>
          </p:cNvPr>
          <p:cNvSpPr/>
          <p:nvPr/>
        </p:nvSpPr>
        <p:spPr>
          <a:xfrm>
            <a:off x="1956459" y="3844564"/>
            <a:ext cx="517559" cy="2929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Arrow: Right 8">
            <a:extLst>
              <a:ext uri="{FF2B5EF4-FFF2-40B4-BE49-F238E27FC236}">
                <a16:creationId xmlns:a16="http://schemas.microsoft.com/office/drawing/2014/main" id="{FAFAEE61-7A70-1B95-3864-CBBEE0DC70B8}"/>
              </a:ext>
            </a:extLst>
          </p:cNvPr>
          <p:cNvSpPr/>
          <p:nvPr/>
        </p:nvSpPr>
        <p:spPr>
          <a:xfrm>
            <a:off x="4817381" y="3844564"/>
            <a:ext cx="517559" cy="2929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Arrow: Right 9">
            <a:extLst>
              <a:ext uri="{FF2B5EF4-FFF2-40B4-BE49-F238E27FC236}">
                <a16:creationId xmlns:a16="http://schemas.microsoft.com/office/drawing/2014/main" id="{F4033854-3498-B538-E3A6-7DD6D43E01DE}"/>
              </a:ext>
            </a:extLst>
          </p:cNvPr>
          <p:cNvSpPr/>
          <p:nvPr/>
        </p:nvSpPr>
        <p:spPr>
          <a:xfrm>
            <a:off x="10092063" y="3844564"/>
            <a:ext cx="517559" cy="2929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Picture 10">
            <a:extLst>
              <a:ext uri="{FF2B5EF4-FFF2-40B4-BE49-F238E27FC236}">
                <a16:creationId xmlns:a16="http://schemas.microsoft.com/office/drawing/2014/main" id="{19E20628-FC8B-7223-34E3-FB585A74D269}"/>
              </a:ext>
            </a:extLst>
          </p:cNvPr>
          <p:cNvPicPr>
            <a:picLocks noChangeAspect="1"/>
          </p:cNvPicPr>
          <p:nvPr/>
        </p:nvPicPr>
        <p:blipFill>
          <a:blip r:embed="rId8"/>
          <a:srcRect t="14473" r="-359" b="1316"/>
          <a:stretch/>
        </p:blipFill>
        <p:spPr>
          <a:xfrm>
            <a:off x="5349818" y="3882917"/>
            <a:ext cx="4705443" cy="256821"/>
          </a:xfrm>
          <a:prstGeom prst="rect">
            <a:avLst/>
          </a:prstGeom>
        </p:spPr>
      </p:pic>
      <p:pic>
        <p:nvPicPr>
          <p:cNvPr id="12" name="Picture 11" descr="A screenshot of a computer code&#10;&#10;Description automatically generated">
            <a:extLst>
              <a:ext uri="{FF2B5EF4-FFF2-40B4-BE49-F238E27FC236}">
                <a16:creationId xmlns:a16="http://schemas.microsoft.com/office/drawing/2014/main" id="{72E60DE4-9B5F-E32D-7A57-9E488D50CB0A}"/>
              </a:ext>
            </a:extLst>
          </p:cNvPr>
          <p:cNvPicPr>
            <a:picLocks noChangeAspect="1"/>
          </p:cNvPicPr>
          <p:nvPr/>
        </p:nvPicPr>
        <p:blipFill>
          <a:blip r:embed="rId7"/>
          <a:srcRect l="2883" t="92489" r="741" b="353"/>
          <a:stretch/>
        </p:blipFill>
        <p:spPr>
          <a:xfrm>
            <a:off x="4827434" y="4306956"/>
            <a:ext cx="5764736" cy="372572"/>
          </a:xfrm>
          <a:prstGeom prst="rect">
            <a:avLst/>
          </a:prstGeom>
        </p:spPr>
      </p:pic>
    </p:spTree>
    <p:extLst>
      <p:ext uri="{BB962C8B-B14F-4D97-AF65-F5344CB8AC3E}">
        <p14:creationId xmlns:p14="http://schemas.microsoft.com/office/powerpoint/2010/main" val="3832901683"/>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7B57C-6FC0-8886-07E0-B4BFACC18870}"/>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Summary</a:t>
            </a:r>
          </a:p>
        </p:txBody>
      </p:sp>
      <p:sp>
        <p:nvSpPr>
          <p:cNvPr id="3" name="Content Placeholder 2">
            <a:extLst>
              <a:ext uri="{FF2B5EF4-FFF2-40B4-BE49-F238E27FC236}">
                <a16:creationId xmlns:a16="http://schemas.microsoft.com/office/drawing/2014/main" id="{077DD6D9-28BC-A8BC-303B-34D9D5BFFC17}"/>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The program reads the most recent sensor readings from the CSV flat file. It then retrieves all user-defined alert conditions from the SQLite database. The program then compares the current values against the conditions. If conditions are met (e.g., "37 &gt; 35"), the alert is "actuated". All evaluation results (actuations, no change, etc.) are logged.</a:t>
            </a:r>
            <a:endParaRPr lang="en-US">
              <a:latin typeface="Times New Roman"/>
              <a:cs typeface="Times New Roman"/>
            </a:endParaRPr>
          </a:p>
        </p:txBody>
      </p:sp>
    </p:spTree>
    <p:extLst>
      <p:ext uri="{BB962C8B-B14F-4D97-AF65-F5344CB8AC3E}">
        <p14:creationId xmlns:p14="http://schemas.microsoft.com/office/powerpoint/2010/main" val="3920141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C11E8-BC93-0F8E-C049-555F2203B7B9}"/>
              </a:ext>
            </a:extLst>
          </p:cNvPr>
          <p:cNvSpPr>
            <a:spLocks noGrp="1"/>
          </p:cNvSpPr>
          <p:nvPr>
            <p:ph type="title"/>
          </p:nvPr>
        </p:nvSpPr>
        <p:spPr>
          <a:xfrm>
            <a:off x="838200" y="2769878"/>
            <a:ext cx="10515600" cy="1325563"/>
          </a:xfrm>
        </p:spPr>
        <p:txBody>
          <a:bodyPr/>
          <a:lstStyle/>
          <a:p>
            <a:pPr algn="ctr"/>
            <a:r>
              <a:rPr lang="en-US">
                <a:latin typeface="Times New Roman"/>
                <a:cs typeface="Times New Roman"/>
              </a:rPr>
              <a:t>Questions? </a:t>
            </a:r>
          </a:p>
        </p:txBody>
      </p:sp>
    </p:spTree>
    <p:extLst>
      <p:ext uri="{BB962C8B-B14F-4D97-AF65-F5344CB8AC3E}">
        <p14:creationId xmlns:p14="http://schemas.microsoft.com/office/powerpoint/2010/main" val="3079315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2022</Words>
  <Application>Microsoft Office PowerPoint</Application>
  <PresentationFormat>Widescreen</PresentationFormat>
  <Paragraphs>137</Paragraphs>
  <Slides>27</Slides>
  <Notes>23</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Prototype RWIS Alert System</vt:lpstr>
      <vt:lpstr>Introduction</vt:lpstr>
      <vt:lpstr>Introduction To WeatherShare</vt:lpstr>
      <vt:lpstr>WeatherShare Map Interface</vt:lpstr>
      <vt:lpstr>Timeline (Fall 2025)</vt:lpstr>
      <vt:lpstr>Timeline (Spring 2026)</vt:lpstr>
      <vt:lpstr>Prototype Alert System</vt:lpstr>
      <vt:lpstr>Prototype RWIS Alert System Interface</vt:lpstr>
      <vt:lpstr>Prototype RWIS Alert System Wire Frame</vt:lpstr>
      <vt:lpstr>Scope</vt:lpstr>
      <vt:lpstr>Scope Definition</vt:lpstr>
      <vt:lpstr>Scope Definition</vt:lpstr>
      <vt:lpstr>Requirements</vt:lpstr>
      <vt:lpstr>Requirements Continued. </vt:lpstr>
      <vt:lpstr>Requirements Continued.</vt:lpstr>
      <vt:lpstr>Requirements Continued.</vt:lpstr>
      <vt:lpstr>Standards</vt:lpstr>
      <vt:lpstr>Standards</vt:lpstr>
      <vt:lpstr>Design</vt:lpstr>
      <vt:lpstr>Design Introduction</vt:lpstr>
      <vt:lpstr>Flow Diagrams</vt:lpstr>
      <vt:lpstr>Flow Diagrams</vt:lpstr>
      <vt:lpstr>Data: Raw</vt:lpstr>
      <vt:lpstr>Data: Processed</vt:lpstr>
      <vt:lpstr>Converting Example Data</vt:lpstr>
      <vt:lpstr>Summary</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Pride, Hayden</cp:lastModifiedBy>
  <cp:revision>39</cp:revision>
  <dcterms:created xsi:type="dcterms:W3CDTF">2025-11-19T00:38:08Z</dcterms:created>
  <dcterms:modified xsi:type="dcterms:W3CDTF">2025-12-05T15:58:40Z</dcterms:modified>
</cp:coreProperties>
</file>